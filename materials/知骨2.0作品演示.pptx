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f95b1862848ae" /><Relationship Type="http://schemas.openxmlformats.org/officeDocument/2006/relationships/extended-properties" Target="/docProps/app.xml" Id="R4baef3e6240d466b" /><Relationship Type="http://schemas.openxmlformats.org/officeDocument/2006/relationships/officeDocument" Target="/ppt/presentation.xml" Id="Rb1d17a98d26f42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f75595ed6418c"/>
  </p:sldMasterIdLst>
  <p:notesMasterIdLst>
    <p:notesMasterId xmlns:r="http://schemas.openxmlformats.org/officeDocument/2006/relationships" r:id="R504d3367d94142df"/>
  </p:notesMasterIdLst>
  <p:sldIdLst>
    <p:sldId xmlns:r="http://schemas.openxmlformats.org/officeDocument/2006/relationships" id="256" r:id="R9758305089404f00"/>
    <p:sldId xmlns:r="http://schemas.openxmlformats.org/officeDocument/2006/relationships" id="257" r:id="Re7c6297ddfba4032"/>
    <p:sldId xmlns:r="http://schemas.openxmlformats.org/officeDocument/2006/relationships" id="258" r:id="R4829db612c1b49d7"/>
    <p:sldId xmlns:r="http://schemas.openxmlformats.org/officeDocument/2006/relationships" id="259" r:id="R3aaa4ffcb0db4388"/>
    <p:sldId xmlns:r="http://schemas.openxmlformats.org/officeDocument/2006/relationships" id="260" r:id="Re4e503a4d0334e10"/>
    <p:sldId xmlns:r="http://schemas.openxmlformats.org/officeDocument/2006/relationships" id="261" r:id="Re684e36b11e34c51"/>
    <p:sldId xmlns:r="http://schemas.openxmlformats.org/officeDocument/2006/relationships" id="262" r:id="R58d45391caa94e25"/>
    <p:sldId xmlns:r="http://schemas.openxmlformats.org/officeDocument/2006/relationships" id="263" r:id="Red3885774d0d45d9"/>
    <p:sldId xmlns:r="http://schemas.openxmlformats.org/officeDocument/2006/relationships" id="264" r:id="R308e4e9b859d4d94"/>
    <p:sldId xmlns:r="http://schemas.openxmlformats.org/officeDocument/2006/relationships" id="265" r:id="R059af8d8c7bd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e12d91c9744b0" /><Relationship Type="http://schemas.openxmlformats.org/officeDocument/2006/relationships/slideMaster" Target="/ppt/slideMasters/slideMaster1.xml" Id="R2a3f75595ed6418c" /><Relationship Type="http://schemas.openxmlformats.org/officeDocument/2006/relationships/notesMaster" Target="/ppt/notesMasters/notesMaster1.xml" Id="R504d3367d94142df" /><Relationship Type="http://schemas.openxmlformats.org/officeDocument/2006/relationships/presProps" Target="/ppt/presProps.xml" Id="R2ef09294f120437d" /><Relationship Type="http://schemas.openxmlformats.org/officeDocument/2006/relationships/tableStyles" Target="/ppt/tableStyles.xml" Id="Rb41914a3f1674dd5" /><Relationship Type="http://schemas.openxmlformats.org/officeDocument/2006/relationships/slide" Target="/ppt/slides/slide1.xml" Id="R9758305089404f00" /><Relationship Type="http://schemas.openxmlformats.org/officeDocument/2006/relationships/slide" Target="/ppt/slides/slide2.xml" Id="Re7c6297ddfba4032" /><Relationship Type="http://schemas.openxmlformats.org/officeDocument/2006/relationships/slide" Target="/ppt/slides/slide3.xml" Id="R4829db612c1b49d7" /><Relationship Type="http://schemas.openxmlformats.org/officeDocument/2006/relationships/slide" Target="/ppt/slides/slide4.xml" Id="R3aaa4ffcb0db4388" /><Relationship Type="http://schemas.openxmlformats.org/officeDocument/2006/relationships/slide" Target="/ppt/slides/slide5.xml" Id="Re4e503a4d0334e10" /><Relationship Type="http://schemas.openxmlformats.org/officeDocument/2006/relationships/slide" Target="/ppt/slides/slide6.xml" Id="Re684e36b11e34c51" /><Relationship Type="http://schemas.openxmlformats.org/officeDocument/2006/relationships/slide" Target="/ppt/slides/slide7.xml" Id="R58d45391caa94e25" /><Relationship Type="http://schemas.openxmlformats.org/officeDocument/2006/relationships/slide" Target="/ppt/slides/slide8.xml" Id="Red3885774d0d45d9" /><Relationship Type="http://schemas.openxmlformats.org/officeDocument/2006/relationships/slide" Target="/ppt/slides/slide9.xml" Id="R308e4e9b859d4d94" /><Relationship Type="http://schemas.openxmlformats.org/officeDocument/2006/relationships/slide" Target="/ppt/slides/slide10.xml" Id="R059af8d8c7bd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019c7ddad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d3a4645ea4523" /><Relationship Type="http://schemas.openxmlformats.org/officeDocument/2006/relationships/notesMaster" Target="/ppt/notesMasters/notesMaster1.xml" Id="R20b16708383844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d49705d21447f" /><Relationship Type="http://schemas.openxmlformats.org/officeDocument/2006/relationships/notesMaster" Target="/ppt/notesMasters/notesMaster1.xml" Id="Ra16823bbabba45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81b3ec0ed34cb7" /><Relationship Type="http://schemas.openxmlformats.org/officeDocument/2006/relationships/notesMaster" Target="/ppt/notesMasters/notesMaster1.xml" Id="Rfd2746ad8ded48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735c8a7e4d4650" /><Relationship Type="http://schemas.openxmlformats.org/officeDocument/2006/relationships/notesMaster" Target="/ppt/notesMasters/notesMaster1.xml" Id="R47e3b95beab843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d130ab98b49cb" /><Relationship Type="http://schemas.openxmlformats.org/officeDocument/2006/relationships/notesMaster" Target="/ppt/notesMasters/notesMaster1.xml" Id="R20ff01d48b9f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98986bb6c24a20" /><Relationship Type="http://schemas.openxmlformats.org/officeDocument/2006/relationships/notesMaster" Target="/ppt/notesMasters/notesMaster1.xml" Id="R525ef6b23b2e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6871ee811e4114" /><Relationship Type="http://schemas.openxmlformats.org/officeDocument/2006/relationships/notesMaster" Target="/ppt/notesMasters/notesMaster1.xml" Id="R4d45f3e458a647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0915be9934e8e" /><Relationship Type="http://schemas.openxmlformats.org/officeDocument/2006/relationships/notesMaster" Target="/ppt/notesMasters/notesMaster1.xml" Id="R60992580d30141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8d21174584b14" /><Relationship Type="http://schemas.openxmlformats.org/officeDocument/2006/relationships/notesMaster" Target="/ppt/notesMasters/notesMaster1.xml" Id="Rb51846b6309549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855c38d4f4446c" /><Relationship Type="http://schemas.openxmlformats.org/officeDocument/2006/relationships/notesMaster" Target="/ppt/notesMasters/notesMaster1.xml" Id="R9cdb3bfe162d4b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作品版本20261019-compete1。右图为实际二维预设定位交互界面。骨骼原图Mikael Häggström，公有领域。参赛成员真实信息由本人填写。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两段文字为作者预设的教学设计示例，不是真实学生原话。教材依据OpenStax Anatomy and Physiology 2e 8.2，https://openstax.org/books/anatomy-and-physiology-2e/pages/8-2-bones-of-the-upper-limb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实际作品截图。点选部位后联动教材、日常练习和相关AI任务。36条目包含骨、骨群、组成部分和标志，不能称作36块独立骨。教材图OpenStax，CC BY-NC-SA4.0；骨骼原图公有领域。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截图中的输入为预设录制文字，未触发真实模型，不是学生课堂数据。课程目标和完成标准属于实施设计，建议10–15分钟未作为实测完成时间。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示例截图持续标注预设、未调用模型、不写入学习记录。实际probe/reflect调用按学生原文生成，经字段、原文引用及关注点检查后推进。程序按固定映射选择迁移题。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右图为采用明确协议测试占位档案的实际复核控件，选项保持待核对，不能视为授课教师审核。过程对照卡导出HTML后可打印为PDF，包含前后理由、反馈、迁移和本机人工意见。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实际实现采用共享教学核心、浏览器直连或本地Node网关。字段检查不等于知识正确性；无自动文献检索或模型训练。在线密钥仅页面内存，固定官方端点，不写入GitHub与学习导出。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课程18项、接入7项、伴学10项、迁移11项、个人密钥15项、参赛体验7项分别报告，不合并为准确率。用户在对话报告文字API检测成功，当前真实教学JSON归档情况以真实AI预设验证状态.json为准。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没有云端班级、账户隔离或自动同步。跨设备主动导出导入。教师真实内容审核、学生试用及官方签字均须实际执行，当前未完成。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免费教材https://openstax.org/books/anatomy-and-physiology-2e ，CC BY-NC-SA4.0。逐图来源与哈希见assets/来源与许可.json。参赛规范https://agent.xjtu.edu.cn/aiic/cszn/csyq.htm ，提交要求https://agent.xjtu.edu.cn/aiic/info/1023/1206.htm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baca734df46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910c2b0894a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483e7cf664d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b61bd60b740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b43f4926a43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97082349f4a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E20609-0FA2-49CB-A61C-322C8B519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7E24D9-215D-4574-BC21-60205DDF0A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29D494-248B-4AF1-968B-582AE98AC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998DB6-BF16-4AE2-AA0F-79BD14056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E9E5A1-10FC-4D60-A9FD-B69BCEB41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F38306-B771-47BD-A5A6-536807C7C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5CE35F-7E79-435B-9BBD-F1CA665A0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F4E7A2-5280-4FB1-9EB9-84132013AE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A4C9D3-17C7-4CBC-9588-1047D07C9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855C0A-579E-4C9D-8A3D-F591C40F57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e4e3a442794529" /><Relationship Type="http://schemas.openxmlformats.org/officeDocument/2006/relationships/slideLayout" Target="/ppt/slideLayouts/slideLayout1.xml" Id="R1c1c5eced0194a0a" /><Relationship Type="http://schemas.openxmlformats.org/officeDocument/2006/relationships/slideLayout" Target="/ppt/slideLayouts/slideLayout2.xml" Id="R5c71211beced4c03" /><Relationship Type="http://schemas.openxmlformats.org/officeDocument/2006/relationships/slideLayout" Target="/ppt/slideLayouts/slideLayout3.xml" Id="R6a98b910825d4486" /><Relationship Type="http://schemas.openxmlformats.org/officeDocument/2006/relationships/slideLayout" Target="/ppt/slideLayouts/slideLayout4.xml" Id="R80be2658a97340f4" /><Relationship Type="http://schemas.openxmlformats.org/officeDocument/2006/relationships/slideLayout" Target="/ppt/slideLayouts/slideLayout5.xml" Id="Rc587f3ef68fd43df" /><Relationship Type="http://schemas.openxmlformats.org/officeDocument/2006/relationships/slideLayout" Target="/ppt/slideLayouts/slideLayout6.xml" Id="Rcbad824c423b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c5eced0194a0a"/>
    <p:sldLayoutId xmlns:r="http://schemas.openxmlformats.org/officeDocument/2006/relationships" id="2147483650" r:id="R5c71211beced4c03"/>
    <p:sldLayoutId xmlns:r="http://schemas.openxmlformats.org/officeDocument/2006/relationships" id="2147483651" r:id="R6a98b910825d4486"/>
    <p:sldLayoutId xmlns:r="http://schemas.openxmlformats.org/officeDocument/2006/relationships" id="2147483652" r:id="R80be2658a97340f4"/>
    <p:sldLayoutId xmlns:r="http://schemas.openxmlformats.org/officeDocument/2006/relationships" id="2147483653" r:id="Rc587f3ef68fd43df"/>
    <p:sldLayoutId xmlns:r="http://schemas.openxmlformats.org/officeDocument/2006/relationships" id="2147483654" r:id="Rcbad824c423b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a9c8cab724035" /><Relationship Type="http://schemas.openxmlformats.org/officeDocument/2006/relationships/image" Target="/ppt/media/image.png" Id="R68c5aed05e0f44fc" /><Relationship Type="http://schemas.openxmlformats.org/officeDocument/2006/relationships/notesSlide" Target="/ppt/notesSlides/notesSlide1.xml" Id="R282fca01b3bb48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2715cf68c43b2" /><Relationship Type="http://schemas.openxmlformats.org/officeDocument/2006/relationships/notesSlide" Target="/ppt/notesSlides/notesSlide2.xml" Id="Rf35c067e3d0e47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822db86fc4d1e" /><Relationship Type="http://schemas.openxmlformats.org/officeDocument/2006/relationships/image" Target="/ppt/media/image2.png" Id="Rf352f3958d624c93" /><Relationship Type="http://schemas.openxmlformats.org/officeDocument/2006/relationships/notesSlide" Target="/ppt/notesSlides/notesSlide3.xml" Id="Re687aa3091db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363a619054b39" /><Relationship Type="http://schemas.openxmlformats.org/officeDocument/2006/relationships/image" Target="/ppt/media/image3.png" Id="R1df35e4a38fa4e81" /><Relationship Type="http://schemas.openxmlformats.org/officeDocument/2006/relationships/notesSlide" Target="/ppt/notesSlides/notesSlide4.xml" Id="Rf75694f84723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31c63844b4430" /><Relationship Type="http://schemas.openxmlformats.org/officeDocument/2006/relationships/image" Target="/ppt/media/image4.png" Id="R12c2ec046a0a4ff0" /><Relationship Type="http://schemas.openxmlformats.org/officeDocument/2006/relationships/notesSlide" Target="/ppt/notesSlides/notesSlide5.xml" Id="Rffd87dbefe3749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d895d7cef4b27" /><Relationship Type="http://schemas.openxmlformats.org/officeDocument/2006/relationships/image" Target="/ppt/media/image5.png" Id="R477dca96e4da44bf" /><Relationship Type="http://schemas.openxmlformats.org/officeDocument/2006/relationships/notesSlide" Target="/ppt/notesSlides/notesSlide6.xml" Id="Re671ecbe8aa845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77f27542b465e" /><Relationship Type="http://schemas.openxmlformats.org/officeDocument/2006/relationships/notesSlide" Target="/ppt/notesSlides/notesSlide7.xml" Id="R02d4ab3e63834b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3b79bf1d04786" /><Relationship Type="http://schemas.openxmlformats.org/officeDocument/2006/relationships/notesSlide" Target="/ppt/notesSlides/notesSlide8.xml" Id="R9bac608218d945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9ed715e0f45eb" /><Relationship Type="http://schemas.openxmlformats.org/officeDocument/2006/relationships/notesSlide" Target="/ppt/notesSlides/notesSlide9.xml" Id="Rba26cfd3d5c14e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4fdf8cac14db6" /><Relationship Type="http://schemas.openxmlformats.org/officeDocument/2006/relationships/notesSlide" Target="/ppt/notesSlides/notesSlide10.xml" Id="Rf41896e9a5694a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149DB-5D7F-4606-A07E-387602D0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2CEF-DB8C-4BDC-949B-11D2D53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知骨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EDC9-CFE2-4C51-95C1-DA30747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0B1AD-5598-4DD1-84E5-9C4A544B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4200" b="1">
                <a:solidFill>
                  <a:srgbClr val="263E57"/>
                </a:solidFill>
                <a:latin typeface="SimHei"/>
                <a:ea typeface="SimHei"/>
                <a:cs typeface="SimHei"/>
              </a:rPr>
              <a:t>系统解剖学</a:t>
            </a:r>
          </a:p>
          <a:p xmlns:a="http://schemas.openxmlformats.org/drawingml/2006/main">
            <a:pPr>
              <a:defRPr sz="420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4200" b="1">
                <a:solidFill>
                  <a:srgbClr val="263E57"/>
                </a:solidFill>
                <a:latin typeface="SimHei"/>
                <a:ea typeface="SimHei"/>
                <a:cs typeface="SimHei"/>
              </a:rPr>
              <a:t>AI虚拟识图助教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8344E-6D41-4E3B-93D4-CF2EC43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3C849B"/>
                </a:solidFill>
                <a:latin typeface="SimHei"/>
                <a:ea typeface="SimHei"/>
                <a:cs typeface="SimHei"/>
              </a:rPr>
              <a:t>围绕学生的判断依据开展伴学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E7A7F-8055-4E76-B922-C2408D4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defPPr>
            <a:lvl1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1pPr>
            <a:lvl2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2pPr>
            <a:lvl3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3pPr>
            <a:lvl4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4pPr>
            <a:lvl5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5pPr>
            <a:lvl6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6pPr>
            <a:lvl7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7pPr>
            <a:lvl8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8pPr>
            <a:lvl9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C879D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6C879D"/>
                </a:solidFill>
                <a:latin typeface="SimHei"/>
                <a:ea typeface="SimHei"/>
                <a:cs typeface="SimHei"/>
              </a:rPr>
              <a:t>西安医学院　杏林智骨队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372B8-ED92-4E78-A04C-CF34124065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5aed05e0f44fc"/>
          <a:stretch xmlns:a="http://schemas.openxmlformats.org/drawingml/2006/main"/>
        </p:blipFill>
        <p:spPr>
          <a:xfrm xmlns:a="http://schemas.openxmlformats.org/drawingml/2006/main">
            <a:off x="7334250" y="1945281"/>
            <a:ext cx="4191000" cy="36341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1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EBA4B-E51A-49CE-9A0C-FBE79A0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41968-6545-4AC3-A257-7903050F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骨名与辨认依据的区别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7CB7B-B0FD-4971-8160-D6E9459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C6F36-64D5-49C5-A349-B02B6925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263E57"/>
                </a:solidFill>
                <a:latin typeface="SimHei"/>
                <a:ea typeface="SimHei"/>
                <a:cs typeface="SimHei"/>
              </a:rPr>
              <a:t>“我选尺骨，因为它在屏幕右边。”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C602F-D79C-4ADC-A1AA-B1F3C439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defPPr>
            <a:lvl1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1pPr>
            <a:lvl2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2pPr>
            <a:lvl3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3pPr>
            <a:lvl4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4pPr>
            <a:lvl5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5pPr>
            <a:lvl6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6pPr>
            <a:lvl7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7pPr>
            <a:lvl8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8pPr>
            <a:lvl9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pPr>
            <a:r>
              <a:rPr sz="2100" b="0">
                <a:solidFill>
                  <a:srgbClr val="66859B"/>
                </a:solidFill>
                <a:latin typeface="SimHei"/>
                <a:ea typeface="SimHei"/>
                <a:cs typeface="SimHei"/>
              </a:rPr>
              <a:t>需要核对观察方向和人体自身方位。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45104-CE48-44CA-B5D8-198CF9D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263E57"/>
                </a:solidFill>
                <a:latin typeface="SimHei"/>
                <a:ea typeface="SimHei"/>
                <a:cs typeface="SimHei"/>
              </a:rPr>
              <a:t>“我选桡骨，因为它看起来比较细。”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DE413-C038-4BD5-A97E-36AA7693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defPPr>
            <a:lvl1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1pPr>
            <a:lvl2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2pPr>
            <a:lvl3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3pPr>
            <a:lvl4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4pPr>
            <a:lvl5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5pPr>
            <a:lvl6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6pPr>
            <a:lvl7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7pPr>
            <a:lvl8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8pPr>
            <a:lvl9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6859B"/>
                </a:solidFill>
                <a:latin typeface="SimHei"/>
                <a:ea typeface="SimHei"/>
                <a:cs typeface="SimHei"/>
              </a:defRPr>
            </a:pPr>
            <a:r>
              <a:rPr sz="2100" b="0">
                <a:solidFill>
                  <a:srgbClr val="66859B"/>
                </a:solidFill>
                <a:latin typeface="SimHei"/>
                <a:ea typeface="SimHei"/>
                <a:cs typeface="SimHei"/>
              </a:rPr>
              <a:t>需要补充可与教材核对的位置和相邻关系。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54A70-A218-46FF-AC5F-B67F2AE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defPPr>
            <a:lvl1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1pPr>
            <a:lvl2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2pPr>
            <a:lvl3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3pPr>
            <a:lvl4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4pPr>
            <a:lvl5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5pPr>
            <a:lvl6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6pPr>
            <a:lvl7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7pPr>
            <a:lvl8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8pPr>
            <a:lvl9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94794F"/>
                </a:solidFill>
                <a:latin typeface="SimHei"/>
                <a:ea typeface="SimHei"/>
                <a:cs typeface="SimHei"/>
              </a:rPr>
              <a:t>课程设计预设输入，不是真实学生数据</a:t>
            </a:r>
          </a:p>
        </p:txBody>
      </p:sp>
    </p:spTree>
    <p:extLst>
      <p:ext uri="{BB962C8B-B14F-4D97-AF65-F5344CB8AC3E}">
        <p14:creationId xmlns:p14="http://schemas.microsoft.com/office/powerpoint/2010/main" val="1089562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41E6-2102-457E-B3DB-0F643B0A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30DBF-863D-4BFF-9D61-7892FA88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互动识图与课程联动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B0853-360B-42B0-A3F5-C4ABCD4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D0F0C-97B4-4ED3-8CA6-64689AA67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2f3958d624c93"/>
          <a:stretch xmlns:a="http://schemas.openxmlformats.org/drawingml/2006/main"/>
        </p:blipFill>
        <p:spPr>
          <a:xfrm xmlns:a="http://schemas.openxmlformats.org/drawingml/2006/main">
            <a:off x="2792097" y="1676400"/>
            <a:ext cx="6607806" cy="4105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591E3-918B-48E7-A43B-A9D07DCF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defPPr>
            <a:lvl1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1pPr>
            <a:lvl2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2pPr>
            <a:lvl3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3pPr>
            <a:lvl4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4pPr>
            <a:lvl5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5pPr>
            <a:lvl6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6pPr>
            <a:lvl7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7pPr>
            <a:lvl8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8pPr>
            <a:lvl9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B8099"/>
                </a:solidFill>
                <a:latin typeface="SimHei"/>
                <a:ea typeface="SimHei"/>
                <a:cs typeface="SimHei"/>
              </a:defRPr>
            </a:pPr>
            <a:r>
              <a:rPr sz="1800" b="0">
                <a:solidFill>
                  <a:srgbClr val="3B8099"/>
                </a:solidFill>
                <a:latin typeface="SimHei"/>
                <a:ea typeface="SimHei"/>
                <a:cs typeface="SimHei"/>
              </a:rPr>
              <a:t>12个二维定位区域　36个学习条目　13张教材图</a:t>
            </a:r>
          </a:p>
        </p:txBody>
      </p:sp>
    </p:spTree>
    <p:extLst>
      <p:ext uri="{BB962C8B-B14F-4D97-AF65-F5344CB8AC3E}">
        <p14:creationId xmlns:p14="http://schemas.microsoft.com/office/powerpoint/2010/main" val="1404040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7A02D-9D00-4B03-9EBC-EE089491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F6438-A4BE-475E-A493-38B86193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示范课的学习目标与初答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716D9-195C-4903-BAD7-4E80401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0D500-4AB4-491E-930F-ADC08033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桡尺骨方位辨析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B1BB3-3A5F-4C5B-BC86-FDB0E49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确认解剖学姿势</a:t>
            </a:r>
          </a:p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说出人体自身方位</a:t>
            </a:r>
          </a:p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写下自己的判断理由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57ADA-5A24-45B7-A916-97C1E268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defPPr>
            <a:lvl1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1pPr>
            <a:lvl2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2pPr>
            <a:lvl3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3pPr>
            <a:lvl4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4pPr>
            <a:lvl5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5pPr>
            <a:lvl6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6pPr>
            <a:lvl7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7pPr>
            <a:lvl8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8pPr>
            <a:lvl9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E8BA0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6E8BA0"/>
                </a:solidFill>
                <a:latin typeface="SimHei"/>
                <a:ea typeface="SimHei"/>
                <a:cs typeface="SimHei"/>
              </a:rPr>
              <a:t>草稿自动保存在当前浏览器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C2289-0C49-4F87-88E4-2068C760A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35e4a38fa4e81"/>
          <a:stretch xmlns:a="http://schemas.openxmlformats.org/drawingml/2006/main"/>
        </p:blipFill>
        <p:spPr>
          <a:xfrm xmlns:a="http://schemas.openxmlformats.org/drawingml/2006/main">
            <a:off x="5918713" y="1762125"/>
            <a:ext cx="487895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90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0CC7B-D2B0-49B9-B0E6-0BB4D48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7A433-0E39-4563-A3CA-07BCF45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围绕原话追问与比较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C6193-5A4F-4AF0-BB3C-E15BFCFB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4DF2D-B106-4F74-B8D9-C33C298ED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2ec046a0a4ff0"/>
          <a:stretch xmlns:a="http://schemas.openxmlformats.org/drawingml/2006/main"/>
        </p:blipFill>
        <p:spPr>
          <a:xfrm xmlns:a="http://schemas.openxmlformats.org/drawingml/2006/main">
            <a:off x="1479839" y="1714500"/>
            <a:ext cx="6317673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95C25-5FDC-4FA5-A2E6-1255AD57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76450"/>
            <a:ext cx="252412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0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第一次调用</a:t>
            </a:r>
          </a:p>
          <a:p xmlns:a="http://schemas.openxmlformats.org/drawingml/2006/main">
            <a: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0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引用理由并追问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0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第二次调用</a:t>
            </a:r>
          </a:p>
          <a:p xmlns:a="http://schemas.openxmlformats.org/drawingml/2006/main">
            <a:pPr>
              <a:defRPr sz="20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0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比较两版解释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5598D-8453-4C56-B7EA-137080BD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6267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defPPr>
            <a:lvl1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1pPr>
            <a:lvl2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2pPr>
            <a:lvl3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3pPr>
            <a:lvl4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4pPr>
            <a:lvl5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5pPr>
            <a:lvl6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6pPr>
            <a:lvl7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7pPr>
            <a:lvl8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8pPr>
            <a:lvl9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94794F"/>
                </a:solidFill>
                <a:latin typeface="SimHei"/>
                <a:ea typeface="SimHei"/>
                <a:cs typeface="SimHei"/>
              </a:rPr>
              <a:t>图中为预设教学设计示例，未调用模型</a:t>
            </a:r>
          </a:p>
        </p:txBody>
      </p:sp>
    </p:spTree>
    <p:extLst>
      <p:ext uri="{BB962C8B-B14F-4D97-AF65-F5344CB8AC3E}">
        <p14:creationId xmlns:p14="http://schemas.microsoft.com/office/powerpoint/2010/main" val="678930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35412-7ACD-4E62-8797-7DFD8917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98D7A-BBE9-48BA-9E17-136D1C3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过程对照卡与教师复核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F247-1B89-45CF-A027-F3F003A0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1790D-743F-4E2E-8F2D-2A707D15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400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四项结构核对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C0787-0E39-4431-8605-A8D24DB3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90825"/>
            <a:ext cx="476250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原文引用准确性</a:t>
            </a:r>
          </a:p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追问针对性</a:t>
            </a:r>
          </a:p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解剖内容可核对性</a:t>
            </a:r>
          </a:p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前后比较忠实性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7BC9A-46E9-4D73-8857-FFD6147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9117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defPPr>
            <a:lvl1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1pPr>
            <a:lvl2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2pPr>
            <a:lvl3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3pPr>
            <a:lvl4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4pPr>
            <a:lvl5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5pPr>
            <a:lvl6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6pPr>
            <a:lvl7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7pPr>
            <a:lvl8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8pPr>
            <a:lvl9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pPr>
            <a:r>
              <a:rPr sz="1800" b="0">
                <a:solidFill>
                  <a:srgbClr val="66869D"/>
                </a:solidFill>
                <a:latin typeface="SimHei"/>
                <a:ea typeface="SimHei"/>
                <a:cs typeface="SimHei"/>
              </a:rPr>
              <a:t>初答与修正依据分别由教师评分</a:t>
            </a:r>
          </a:p>
          <a:p xmlns:a="http://schemas.openxmlformats.org/drawingml/2006/main">
            <a:pPr>
              <a:defRPr sz="1800" b="0">
                <a:solidFill>
                  <a:srgbClr val="66869D"/>
                </a:solidFill>
                <a:latin typeface="SimHei"/>
                <a:ea typeface="SimHei"/>
                <a:cs typeface="SimHei"/>
              </a:defRPr>
            </a:pPr>
            <a:r>
              <a:rPr sz="1800" b="0">
                <a:solidFill>
                  <a:srgbClr val="66869D"/>
                </a:solidFill>
                <a:latin typeface="SimHei"/>
                <a:ea typeface="SimHei"/>
                <a:cs typeface="SimHei"/>
              </a:rPr>
              <a:t>档案内容变化后须重新核对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0DA8F-BEFD-466D-B171-5F7F0E422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dca96e4da44bf"/>
          <a:stretch xmlns:a="http://schemas.openxmlformats.org/drawingml/2006/main"/>
        </p:blipFill>
        <p:spPr>
          <a:xfrm xmlns:a="http://schemas.openxmlformats.org/drawingml/2006/main">
            <a:off x="6257925" y="2973518"/>
            <a:ext cx="5295900" cy="10919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A597C-D4FF-4B6A-B7E3-3556EB2E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48275"/>
            <a:ext cx="529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defPPr>
            <a:lvl1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1pPr>
            <a:lvl2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2pPr>
            <a:lvl3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3pPr>
            <a:lvl4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4pPr>
            <a:lvl5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5pPr>
            <a:lvl6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6pPr>
            <a:lvl7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7pPr>
            <a:lvl8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8pPr>
            <a:lvl9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pPr>
            <a:r>
              <a:rPr sz="1425" b="0">
                <a:solidFill>
                  <a:srgbClr val="94794F"/>
                </a:solidFill>
                <a:latin typeface="SimHei"/>
                <a:ea typeface="SimHei"/>
                <a:cs typeface="SimHei"/>
              </a:rPr>
              <a:t>软件流程示例，未作真实教师审核</a:t>
            </a:r>
          </a:p>
        </p:txBody>
      </p:sp>
    </p:spTree>
    <p:extLst>
      <p:ext uri="{BB962C8B-B14F-4D97-AF65-F5344CB8AC3E}">
        <p14:creationId xmlns:p14="http://schemas.microsoft.com/office/powerpoint/2010/main" val="1157388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A52DA-9CB4-4C67-9EF8-E62808C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B7461-3351-48AE-B44E-C9BFCD81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模型与程序各自承担的工作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17A02-66B2-4861-87D3-1481786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C94F9-5064-4676-938E-AC2F99B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6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7320E-7769-4FDF-B9D0-515657FE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9431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根据当前理由追问，比较前后解释，提出关注点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A81A-2CBD-4982-A8F1-A181CD2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6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程序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47F98-774F-43E6-B104-B6BEDEA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62325"/>
            <a:ext cx="8858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核对字段和原文引用，绑定会话，匹配预设迁移题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E0201-4E24-4FFA-B058-4995659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6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教师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1C8B9-3B8C-4127-B7CA-1C99A5B9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867275"/>
            <a:ext cx="8858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核查解剖内容和教学反馈，人工评价解释依据</a:t>
            </a:r>
          </a:p>
        </p:txBody>
      </p:sp>
    </p:spTree>
    <p:extLst>
      <p:ext uri="{BB962C8B-B14F-4D97-AF65-F5344CB8AC3E}">
        <p14:creationId xmlns:p14="http://schemas.microsoft.com/office/powerpoint/2010/main" val="295560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23CE6-46F3-4B6F-893C-CAC6B7C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BE914-ABC3-45CA-85CD-59F67D13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已有工程证据与待验证部分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44E2F-AA89-4740-B74C-33CC7DD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F176F-21B1-4546-AC2B-D36A530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0763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850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18项课程回归</a:t>
            </a:r>
          </a:p>
          <a:p xmlns:a="http://schemas.openxmlformats.org/drawingml/2006/main">
            <a:pPr>
              <a:defRPr sz="2850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850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15项在线个人密钥检查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4D01A-4944-4EBC-8F41-418E3786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1076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02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新增7项检查覆盖示范课、过程卡、结构复核和设计示例</a:t>
            </a:r>
          </a:p>
          <a:p xmlns:a="http://schemas.openxmlformats.org/drawingml/2006/main">
            <a:pPr>
              <a:defRPr sz="202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02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伴学10项、草稿迁移11项分别保留检查记录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76AE4-19BE-4204-A28B-99D4AA4A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542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defPPr>
            <a:lvl1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1pPr>
            <a:lvl2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2pPr>
            <a:lvl3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3pPr>
            <a:lvl4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4pPr>
            <a:lvl5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5pPr>
            <a:lvl6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6pPr>
            <a:lvl7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7pPr>
            <a:lvl8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8pPr>
            <a:lvl9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pPr>
            <a:r>
              <a:rPr sz="1875" b="0">
                <a:solidFill>
                  <a:srgbClr val="94794F"/>
                </a:solidFill>
                <a:latin typeface="SimHei"/>
                <a:ea typeface="SimHei"/>
                <a:cs typeface="SimHei"/>
              </a:rPr>
              <a:t>成功分支的软件检查使用显式协议占位</a:t>
            </a:r>
          </a:p>
          <a:p xmlns:a="http://schemas.openxmlformats.org/drawingml/2006/main">
            <a:pPr>
              <a:defRPr sz="1875" b="0">
                <a:solidFill>
                  <a:srgbClr val="94794F"/>
                </a:solidFill>
                <a:latin typeface="SimHei"/>
                <a:ea typeface="SimHei"/>
                <a:cs typeface="SimHei"/>
              </a:defRPr>
            </a:pPr>
            <a:r>
              <a:rPr sz="1875" b="0">
                <a:solidFill>
                  <a:srgbClr val="94794F"/>
                </a:solidFill>
                <a:latin typeface="SimHei"/>
                <a:ea typeface="SimHei"/>
                <a:cs typeface="SimHei"/>
              </a:rPr>
              <a:t>真实教学记录与课堂效果按实际归档报告</a:t>
            </a:r>
          </a:p>
        </p:txBody>
      </p:sp>
    </p:spTree>
    <p:extLst>
      <p:ext uri="{BB962C8B-B14F-4D97-AF65-F5344CB8AC3E}">
        <p14:creationId xmlns:p14="http://schemas.microsoft.com/office/powerpoint/2010/main" val="263598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B0F47-78C9-4FC6-B339-183C24A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51A2F-1E6E-41A6-8D6B-6168F98A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部署与课堂实施条件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32F6B-45DA-438D-9588-96ADF5A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A73D5-5656-4EB4-9631-78CE870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47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基础学习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3D7BA-6BEA-4DD9-946E-33B0392A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785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打开网址或离线文件，按浏览器保存记录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0856C-0B07-4641-A0F0-291B0F2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575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47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模型伴学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4E3E0-7702-4FBC-97B6-1879939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57575"/>
            <a:ext cx="785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自备有效模型密钥和额度，支持本地服务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0FF52-89A7-4BEA-9E9B-9306EE8E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47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推广准备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CC51C-E4BF-46CC-A335-AE64500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43475"/>
            <a:ext cx="785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75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授课教师核对内容，再组织真实小范围试用</a:t>
            </a:r>
          </a:p>
        </p:txBody>
      </p:sp>
    </p:spTree>
    <p:extLst>
      <p:ext uri="{BB962C8B-B14F-4D97-AF65-F5344CB8AC3E}">
        <p14:creationId xmlns:p14="http://schemas.microsoft.com/office/powerpoint/2010/main" val="153323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8099D-D7AD-415C-AA74-49801526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defPPr>
            <a:lvl1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1pPr>
            <a:lvl2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2pPr>
            <a:lvl3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3pPr>
            <a:lvl4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4pPr>
            <a:lvl5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5pPr>
            <a:lvl6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6pPr>
            <a:lvl7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7pPr>
            <a:lvl8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8pPr>
            <a:lvl9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90A6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7490A6"/>
                </a:solidFill>
                <a:latin typeface="SimHei"/>
                <a:ea typeface="SimHei"/>
                <a:cs typeface="SimHei"/>
              </a:rPr>
              <a:t>知骨　AI+高等教育 / AI+教学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66982-B3DB-4C8D-89D4-04179ABE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defPPr>
            <a:lvl1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1pPr>
            <a:lvl2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2pPr>
            <a:lvl3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3pPr>
            <a:lvl4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4pPr>
            <a:lvl5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5pPr>
            <a:lvl6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6pPr>
            <a:lvl7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7pPr>
            <a:lvl8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8pPr>
            <a:lvl9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15E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24415E"/>
                </a:solidFill>
                <a:latin typeface="SimHei"/>
                <a:ea typeface="SimHei"/>
                <a:cs typeface="SimHei"/>
              </a:rPr>
              <a:t>作品入口与素材来源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4452C-1CF8-48E2-911F-32768CEE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defPPr>
            <a:lvl1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1pPr>
            <a:lvl2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2pPr>
            <a:lvl3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3pPr>
            <a:lvl4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4pPr>
            <a:lvl5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5pPr>
            <a:lvl6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6pPr>
            <a:lvl7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7pPr>
            <a:lvl8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8pPr>
            <a:lvl9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E95AA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7E95AA"/>
                </a:solidFill>
                <a:latin typeface="SimHei"/>
                <a:ea typeface="SimHei"/>
                <a:cs typeface="Sim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6F50-CF88-4039-BB8E-A4DE341F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1010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defPPr>
            <a:lvl1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1pPr>
            <a:lvl2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2pPr>
            <a:lvl3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3pPr>
            <a:lvl4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4pPr>
            <a:lvl5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5pPr>
            <a:lvl6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6pPr>
            <a:lvl7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7pPr>
            <a:lvl8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8pPr>
            <a:lvl9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3C849B"/>
                </a:solidFill>
                <a:latin typeface="SimHei"/>
                <a:ea typeface="SimHei"/>
                <a:cs typeface="SimHei"/>
              </a:defRPr>
            </a:pPr>
            <a:r>
              <a:rPr sz="2625" b="1">
                <a:solidFill>
                  <a:srgbClr val="3C849B"/>
                </a:solidFill>
                <a:latin typeface="SimHei"/>
                <a:ea typeface="SimHei"/>
                <a:cs typeface="SimHei"/>
              </a:rPr>
              <a:t>crh2007530.github.io/zhigu-ai-teaching/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866D4-A020-425C-9101-892617D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110109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00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OpenStax Anatomy and Physiology 2e</a:t>
            </a:r>
          </a:p>
          <a:p xmlns:a="http://schemas.openxmlformats.org/drawingml/2006/main">
            <a:pPr>
              <a:defRPr sz="210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2100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13张教材图保留英文标签，相关改编内容非商业共享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FF14E-C789-421C-A71C-905BBE3E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1010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defPPr>
            <a:lvl1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1pPr>
            <a:lvl2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2pPr>
            <a:lvl3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3pPr>
            <a:lvl4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4pPr>
            <a:lvl5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5pPr>
            <a:lvl6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6pPr>
            <a:lvl7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7pPr>
            <a:lvl8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8pPr>
            <a:lvl9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1950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本地源码、6份PDF、可编辑PPT、MP4及核验记录</a:t>
            </a:r>
          </a:p>
          <a:p xmlns:a="http://schemas.openxmlformats.org/drawingml/2006/main">
            <a:pPr>
              <a:defRPr sz="1950" b="0">
                <a:solidFill>
                  <a:srgbClr val="263E57"/>
                </a:solidFill>
                <a:latin typeface="SimHei"/>
                <a:ea typeface="SimHei"/>
                <a:cs typeface="SimHei"/>
              </a:defRPr>
            </a:pPr>
            <a:r>
              <a:rPr sz="1950" b="0">
                <a:solidFill>
                  <a:srgbClr val="263E57"/>
                </a:solidFill>
                <a:latin typeface="SimHei"/>
                <a:ea typeface="SimHei"/>
                <a:cs typeface="SimHei"/>
              </a:rPr>
              <a:t>真实身份、官方签字及真实教学佐证按实际补齐</a:t>
            </a:r>
          </a:p>
        </p:txBody>
      </p:sp>
    </p:spTree>
    <p:extLst>
      <p:ext uri="{BB962C8B-B14F-4D97-AF65-F5344CB8AC3E}">
        <p14:creationId xmlns:p14="http://schemas.microsoft.com/office/powerpoint/2010/main" val="1137280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2026-10-18T18:12:55.6060000Z</dcterms:created>
  <dcterms:modified xsi:type="dcterms:W3CDTF">2026-10-18T18:12:55.6060000Z</dcterms:modified>
</coreProperties>
</file>