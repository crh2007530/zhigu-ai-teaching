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8822861794b48f6" /><Relationship Type="http://schemas.openxmlformats.org/officeDocument/2006/relationships/extended-properties" Target="/docProps/app.xml" Id="R0196d8616a9b4a78" /><Relationship Type="http://schemas.openxmlformats.org/officeDocument/2006/relationships/officeDocument" Target="/ppt/presentation.xml" Id="R2783edc06d46442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8534b7a29b047d4"/>
  </p:sldMasterIdLst>
  <p:notesMasterIdLst>
    <p:notesMasterId xmlns:r="http://schemas.openxmlformats.org/officeDocument/2006/relationships" r:id="Re81d14456e32480c"/>
  </p:notesMasterIdLst>
  <p:sldIdLst>
    <p:sldId xmlns:r="http://schemas.openxmlformats.org/officeDocument/2006/relationships" id="256" r:id="R4a09e7185f3b439b"/>
    <p:sldId xmlns:r="http://schemas.openxmlformats.org/officeDocument/2006/relationships" id="257" r:id="Rdb1cba4428604792"/>
    <p:sldId xmlns:r="http://schemas.openxmlformats.org/officeDocument/2006/relationships" id="258" r:id="Rebb83537d79442f3"/>
    <p:sldId xmlns:r="http://schemas.openxmlformats.org/officeDocument/2006/relationships" id="259" r:id="R871baf7db3d34acb"/>
    <p:sldId xmlns:r="http://schemas.openxmlformats.org/officeDocument/2006/relationships" id="260" r:id="Rb75e70b605504243"/>
    <p:sldId xmlns:r="http://schemas.openxmlformats.org/officeDocument/2006/relationships" id="261" r:id="R39eeceeee5784c4e"/>
    <p:sldId xmlns:r="http://schemas.openxmlformats.org/officeDocument/2006/relationships" id="262" r:id="R6c0760b8982541ab"/>
    <p:sldId xmlns:r="http://schemas.openxmlformats.org/officeDocument/2006/relationships" id="263" r:id="R32119679996c456a"/>
    <p:sldId xmlns:r="http://schemas.openxmlformats.org/officeDocument/2006/relationships" id="264" r:id="Rb1ef2bd5dcaf498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3fdd309f20b42c0" /><Relationship Type="http://schemas.openxmlformats.org/officeDocument/2006/relationships/slideMaster" Target="/ppt/slideMasters/slideMaster1.xml" Id="R28534b7a29b047d4" /><Relationship Type="http://schemas.openxmlformats.org/officeDocument/2006/relationships/notesMaster" Target="/ppt/notesMasters/notesMaster1.xml" Id="Re81d14456e32480c" /><Relationship Type="http://schemas.openxmlformats.org/officeDocument/2006/relationships/presProps" Target="/ppt/presProps.xml" Id="Rfdc82e1a30954a5d" /><Relationship Type="http://schemas.openxmlformats.org/officeDocument/2006/relationships/tableStyles" Target="/ppt/tableStyles.xml" Id="Rb14fd47920f5425b" /><Relationship Type="http://schemas.openxmlformats.org/officeDocument/2006/relationships/slide" Target="/ppt/slides/slide1.xml" Id="R4a09e7185f3b439b" /><Relationship Type="http://schemas.openxmlformats.org/officeDocument/2006/relationships/slide" Target="/ppt/slides/slide2.xml" Id="Rdb1cba4428604792" /><Relationship Type="http://schemas.openxmlformats.org/officeDocument/2006/relationships/slide" Target="/ppt/slides/slide3.xml" Id="Rebb83537d79442f3" /><Relationship Type="http://schemas.openxmlformats.org/officeDocument/2006/relationships/slide" Target="/ppt/slides/slide4.xml" Id="R871baf7db3d34acb" /><Relationship Type="http://schemas.openxmlformats.org/officeDocument/2006/relationships/slide" Target="/ppt/slides/slide5.xml" Id="Rb75e70b605504243" /><Relationship Type="http://schemas.openxmlformats.org/officeDocument/2006/relationships/slide" Target="/ppt/slides/slide6.xml" Id="R39eeceeee5784c4e" /><Relationship Type="http://schemas.openxmlformats.org/officeDocument/2006/relationships/slide" Target="/ppt/slides/slide7.xml" Id="R6c0760b8982541ab" /><Relationship Type="http://schemas.openxmlformats.org/officeDocument/2006/relationships/slide" Target="/ppt/slides/slide8.xml" Id="R32119679996c456a" /><Relationship Type="http://schemas.openxmlformats.org/officeDocument/2006/relationships/slide" Target="/ppt/slides/slide9.xml" Id="Rb1ef2bd5dcaf498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4c50b605ae14f2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b17a6fa24444a61" /><Relationship Type="http://schemas.openxmlformats.org/officeDocument/2006/relationships/notesMaster" Target="/ppt/notesMasters/notesMaster1.xml" Id="R867e2fd2140a481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d434c2124a14e5d" /><Relationship Type="http://schemas.openxmlformats.org/officeDocument/2006/relationships/notesMaster" Target="/ppt/notesMasters/notesMaster1.xml" Id="R3c46e878a87d4a2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b5e8d842ab1495b" /><Relationship Type="http://schemas.openxmlformats.org/officeDocument/2006/relationships/notesMaster" Target="/ppt/notesMasters/notesMaster1.xml" Id="R11b28585cfb8411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740992b113c4038" /><Relationship Type="http://schemas.openxmlformats.org/officeDocument/2006/relationships/notesMaster" Target="/ppt/notesMasters/notesMaster1.xml" Id="R366b740253a749f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0ae5526f0d24002" /><Relationship Type="http://schemas.openxmlformats.org/officeDocument/2006/relationships/notesMaster" Target="/ppt/notesMasters/notesMaster1.xml" Id="Rf2bf3631709f4cf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fa521602c2a4279" /><Relationship Type="http://schemas.openxmlformats.org/officeDocument/2006/relationships/notesMaster" Target="/ppt/notesMasters/notesMaster1.xml" Id="R989b8398d8f5402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e1b472925c4467d" /><Relationship Type="http://schemas.openxmlformats.org/officeDocument/2006/relationships/notesMaster" Target="/ppt/notesMasters/notesMaster1.xml" Id="R69a12199555840d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05cf527d5c54ebd" /><Relationship Type="http://schemas.openxmlformats.org/officeDocument/2006/relationships/notesMaster" Target="/ppt/notesMasters/notesMaster1.xml" Id="R74acad734b29440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e8d7479c43d4e18" /><Relationship Type="http://schemas.openxmlformats.org/officeDocument/2006/relationships/notesMaster" Target="/ppt/notesMasters/notesMaster1.xml" Id="R3d8f6b230468494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本地实现的AI伴学课堂；目前无真实模型密钥。截图未显示虚构AI输出。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主线为初答、原文引用追问、学生修正、前后比较、迁移练习和教师复核。不是已验证学习效果。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截图为本机初答与未配置状态。模型返回未通过原文引用或格式核对时不推进。真实追问针对性须用真实密钥逐例验证。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这是教学流程设计示意，不是模型实测输出。模型只输出关注点和教学建议；程序从预设映射选题，固定答案判分。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4个伴学任务引用现有日常题与教材条目，没有新增96题之外的题库数量。题卷难度未校准。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真实界面暂无已完成AI档案，因为尚未接通模型。导入JSON和人工复核软件流程通过模拟上游测试，不是课堂试点。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密钥隐藏输入，仅注入启动进程。真实文字与教学图片检测、请求编号和耗时可见。模型接口文档https://api-docs.deepseek.com/api/create-chat-completion/。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证据分别见功能实测记录、AI接入检测功能实测和AI伴学课堂功能实测JSON。不能把模拟占位作为真实AI演示。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素材与相关改编教学内容遵守CC BY-NC-SA4.0非商业共享。原无标签骨骼图为Mikael Häggström，公有领域。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d1155ddd9f4e3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9ff0e2c5924f3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a687058c8f446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1f1925b51b425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b9d71c32f5413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da63c7778246f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DB20E2D-6AFA-4A44-996E-EC2C8C3C0F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B83DB70-49AC-48B0-8F4B-3A5CB16C828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02F090A-485A-49B6-91D5-6666F40836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9AF4CDB-49A2-4999-A608-0F13B2CC5C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E877472-DD8F-4684-B7CA-F1132152A27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DFE3D4C-3B3E-4DE3-BAE1-B00DE1FE51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482D8AF-07EC-4BCE-AE47-61E26D72F4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684467C-9800-46C6-9CD5-9B41837B6BF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A1DAE02-29CE-476E-AB1D-AA9D9300F5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3D4316C-B3A1-4642-BF40-6E03D2142D6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4f13353eb2a4650" /><Relationship Type="http://schemas.openxmlformats.org/officeDocument/2006/relationships/slideLayout" Target="/ppt/slideLayouts/slideLayout1.xml" Id="R5b9a474dbace4c36" /><Relationship Type="http://schemas.openxmlformats.org/officeDocument/2006/relationships/slideLayout" Target="/ppt/slideLayouts/slideLayout2.xml" Id="R29d680ad1aa04c61" /><Relationship Type="http://schemas.openxmlformats.org/officeDocument/2006/relationships/slideLayout" Target="/ppt/slideLayouts/slideLayout3.xml" Id="R3f8e0f065c79452e" /><Relationship Type="http://schemas.openxmlformats.org/officeDocument/2006/relationships/slideLayout" Target="/ppt/slideLayouts/slideLayout4.xml" Id="R7b07856da551441b" /><Relationship Type="http://schemas.openxmlformats.org/officeDocument/2006/relationships/slideLayout" Target="/ppt/slideLayouts/slideLayout5.xml" Id="R54b2b76a99944de9" /><Relationship Type="http://schemas.openxmlformats.org/officeDocument/2006/relationships/slideLayout" Target="/ppt/slideLayouts/slideLayout6.xml" Id="Rc2f39c559151403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b9a474dbace4c36"/>
    <p:sldLayoutId xmlns:r="http://schemas.openxmlformats.org/officeDocument/2006/relationships" id="2147483650" r:id="R29d680ad1aa04c61"/>
    <p:sldLayoutId xmlns:r="http://schemas.openxmlformats.org/officeDocument/2006/relationships" id="2147483651" r:id="R3f8e0f065c79452e"/>
    <p:sldLayoutId xmlns:r="http://schemas.openxmlformats.org/officeDocument/2006/relationships" id="2147483652" r:id="R7b07856da551441b"/>
    <p:sldLayoutId xmlns:r="http://schemas.openxmlformats.org/officeDocument/2006/relationships" id="2147483653" r:id="R54b2b76a99944de9"/>
    <p:sldLayoutId xmlns:r="http://schemas.openxmlformats.org/officeDocument/2006/relationships" id="2147483654" r:id="Rc2f39c559151403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5d25a23edf4e1f" /><Relationship Type="http://schemas.openxmlformats.org/officeDocument/2006/relationships/image" Target="/ppt/media/image.png" Id="R867133d9b94b4fc5" /><Relationship Type="http://schemas.openxmlformats.org/officeDocument/2006/relationships/notesSlide" Target="/ppt/notesSlides/notesSlide1.xml" Id="R05521c5b2de04d6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2398adae6c4b2f" /><Relationship Type="http://schemas.openxmlformats.org/officeDocument/2006/relationships/notesSlide" Target="/ppt/notesSlides/notesSlide2.xml" Id="Rf5ecc7f565dd41b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421f6c56fc422a" /><Relationship Type="http://schemas.openxmlformats.org/officeDocument/2006/relationships/image" Target="/ppt/media/image2.png" Id="R5ba80679a16a4d9b" /><Relationship Type="http://schemas.openxmlformats.org/officeDocument/2006/relationships/notesSlide" Target="/ppt/notesSlides/notesSlide3.xml" Id="R23a0b1a2a823449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73b3382fd94320" /><Relationship Type="http://schemas.openxmlformats.org/officeDocument/2006/relationships/notesSlide" Target="/ppt/notesSlides/notesSlide4.xml" Id="Re27977967c79484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73536937994f5e" /><Relationship Type="http://schemas.openxmlformats.org/officeDocument/2006/relationships/notesSlide" Target="/ppt/notesSlides/notesSlide5.xml" Id="R0366aee073fc4c5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37284eb42b4030" /><Relationship Type="http://schemas.openxmlformats.org/officeDocument/2006/relationships/image" Target="/ppt/media/image3.png" Id="Rd3d3dde3f40e42ee" /><Relationship Type="http://schemas.openxmlformats.org/officeDocument/2006/relationships/notesSlide" Target="/ppt/notesSlides/notesSlide6.xml" Id="R3e5e38594a454df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865d00229d424a" /><Relationship Type="http://schemas.openxmlformats.org/officeDocument/2006/relationships/image" Target="/ppt/media/image4.png" Id="R7890b4f16f0b4d5e" /><Relationship Type="http://schemas.openxmlformats.org/officeDocument/2006/relationships/notesSlide" Target="/ppt/notesSlides/notesSlide7.xml" Id="R26079e63ab9549c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54a42b2f504465" /><Relationship Type="http://schemas.openxmlformats.org/officeDocument/2006/relationships/notesSlide" Target="/ppt/notesSlides/notesSlide8.xml" Id="Rf7b7878d75cb485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810d9b1f874b2c" /><Relationship Type="http://schemas.openxmlformats.org/officeDocument/2006/relationships/notesSlide" Target="/ppt/notesSlides/notesSlide9.xml" Id="R13ec2ac30ea3463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E365AC-9824-4B88-A8AA-84B4F939B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defPPr>
            <a:lvl1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1pPr>
            <a:lvl2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2pPr>
            <a:lvl3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3pPr>
            <a:lvl4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4pPr>
            <a:lvl5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5pPr>
            <a:lvl6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6pPr>
            <a:lvl7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7pPr>
            <a:lvl8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8pPr>
            <a:lvl9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pPr>
            <a:r>
              <a:rPr sz="1200" b="0">
                <a:solidFill>
                  <a:srgbClr val="647C7E"/>
                </a:solidFill>
                <a:latin typeface="SimHei"/>
                <a:ea typeface="SimHei"/>
                <a:cs typeface="SimHei"/>
              </a:rPr>
              <a:t>知骨 / AI+高等教育 · AI+教学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4B894F-2168-4857-B736-9A25228BA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42950"/>
            <a:ext cx="11010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925" b="1">
                <a:solidFill>
                  <a:srgbClr val="173436"/>
                </a:solidFill>
                <a:latin typeface="SimHei"/>
                <a:ea typeface="SimHei"/>
                <a:cs typeface="SimHei"/>
              </a:rPr>
              <a:t>知骨：系统解剖学AI虚拟识图助教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09CB1E-CB4B-4C22-8A81-B811A0F8A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53175"/>
            <a:ext cx="66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defPPr>
            <a:lvl1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1pPr>
            <a:lvl2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2pPr>
            <a:lvl3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3pPr>
            <a:lvl4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4pPr>
            <a:lvl5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5pPr>
            <a:lvl6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6pPr>
            <a:lvl7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7pPr>
            <a:lvl8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8pPr>
            <a:lvl9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pPr>
            <a:r>
              <a:rPr sz="1275" b="0">
                <a:solidFill>
                  <a:srgbClr val="647C7E"/>
                </a:solidFill>
                <a:latin typeface="SimHei"/>
                <a:ea typeface="SimHei"/>
                <a:cs typeface="Sim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3B5CFC-800C-44B5-AB32-4499D50B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43100"/>
            <a:ext cx="58102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35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35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35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35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35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35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35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35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35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35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3525" b="1">
                <a:solidFill>
                  <a:srgbClr val="173436"/>
                </a:solidFill>
                <a:latin typeface="SimHei"/>
                <a:ea typeface="SimHei"/>
                <a:cs typeface="SimHei"/>
              </a:rPr>
              <a:t>围绕学生的依据</a:t>
            </a:r>
          </a:p>
          <a:p xmlns:a="http://schemas.openxmlformats.org/drawingml/2006/main">
            <a:pPr>
              <a:defRPr sz="35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3525" b="1">
                <a:solidFill>
                  <a:srgbClr val="173436"/>
                </a:solidFill>
                <a:latin typeface="SimHei"/>
                <a:ea typeface="SimHei"/>
                <a:cs typeface="SimHei"/>
              </a:rPr>
              <a:t>展开两轮AI伴学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3399E6-7817-4FBE-BFF0-B25AF94E5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19575"/>
            <a:ext cx="6096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100" b="0">
                <a:solidFill>
                  <a:srgbClr val="147B74"/>
                </a:solidFill>
                <a:latin typeface="SimHei"/>
                <a:ea typeface="SimHei"/>
                <a:cs typeface="SimHei"/>
              </a:defRPr>
            </a:defPPr>
            <a:lvl1pPr>
              <a:defRPr sz="2100" b="0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1pPr>
            <a:lvl2pPr>
              <a:defRPr sz="2100" b="0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2pPr>
            <a:lvl3pPr>
              <a:defRPr sz="2100" b="0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3pPr>
            <a:lvl4pPr>
              <a:defRPr sz="2100" b="0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4pPr>
            <a:lvl5pPr>
              <a:defRPr sz="2100" b="0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5pPr>
            <a:lvl6pPr>
              <a:defRPr sz="2100" b="0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6pPr>
            <a:lvl7pPr>
              <a:defRPr sz="2100" b="0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7pPr>
            <a:lvl8pPr>
              <a:defRPr sz="2100" b="0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8pPr>
            <a:lvl9pPr>
              <a:defRPr sz="2100" b="0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47B74"/>
                </a:solidFill>
                <a:latin typeface="SimHei"/>
                <a:ea typeface="SimHei"/>
                <a:cs typeface="SimHei"/>
              </a:defRPr>
            </a:pPr>
            <a:r>
              <a:rPr sz="2100" b="0">
                <a:solidFill>
                  <a:srgbClr val="147B74"/>
                </a:solidFill>
                <a:latin typeface="SimHei"/>
                <a:ea typeface="SimHei"/>
                <a:cs typeface="SimHei"/>
              </a:rPr>
              <a:t>初次判断 → 追问 → 修正 → 迁移</a:t>
            </a:r>
          </a:p>
          <a:p xmlns:a="http://schemas.openxmlformats.org/drawingml/2006/main">
            <a:pPr>
              <a:defRPr sz="2100" b="0">
                <a:solidFill>
                  <a:srgbClr val="147B74"/>
                </a:solidFill>
                <a:latin typeface="SimHei"/>
                <a:ea typeface="SimHei"/>
                <a:cs typeface="SimHei"/>
              </a:defRPr>
            </a:pPr>
            <a:r>
              <a:rPr sz="2100" b="0">
                <a:solidFill>
                  <a:srgbClr val="147B74"/>
                </a:solidFill>
                <a:latin typeface="SimHei"/>
                <a:ea typeface="SimHei"/>
                <a:cs typeface="SimHei"/>
              </a:rPr>
              <a:t>西安医学院 · 杏林智骨队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9565CD-1E0C-4910-937B-593D6919BA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7133d9b94b4fc5"/>
          <a:stretch xmlns:a="http://schemas.openxmlformats.org/drawingml/2006/main"/>
        </p:blipFill>
        <p:spPr>
          <a:xfrm xmlns:a="http://schemas.openxmlformats.org/drawingml/2006/main">
            <a:off x="6962775" y="2366367"/>
            <a:ext cx="4619625" cy="288726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5082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1C32FD-95A2-45E5-913F-90CF71E84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defPPr>
            <a:lvl1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1pPr>
            <a:lvl2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2pPr>
            <a:lvl3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3pPr>
            <a:lvl4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4pPr>
            <a:lvl5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5pPr>
            <a:lvl6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6pPr>
            <a:lvl7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7pPr>
            <a:lvl8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8pPr>
            <a:lvl9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pPr>
            <a:r>
              <a:rPr sz="1200" b="0">
                <a:solidFill>
                  <a:srgbClr val="647C7E"/>
                </a:solidFill>
                <a:latin typeface="SimHei"/>
                <a:ea typeface="SimHei"/>
                <a:cs typeface="SimHei"/>
              </a:rPr>
              <a:t>知骨 / AI+高等教育 · AI+教学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96FD45-DFB6-4616-970B-D672ECABA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42950"/>
            <a:ext cx="11010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925" b="1">
                <a:solidFill>
                  <a:srgbClr val="173436"/>
                </a:solidFill>
                <a:latin typeface="SimHei"/>
                <a:ea typeface="SimHei"/>
                <a:cs typeface="SimHei"/>
              </a:rPr>
              <a:t>要观察的是解释如何变化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7D825E-D8E7-47C6-AB90-83F21CDA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53175"/>
            <a:ext cx="66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defPPr>
            <a:lvl1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1pPr>
            <a:lvl2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2pPr>
            <a:lvl3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3pPr>
            <a:lvl4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4pPr>
            <a:lvl5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5pPr>
            <a:lvl6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6pPr>
            <a:lvl7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7pPr>
            <a:lvl8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8pPr>
            <a:lvl9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pPr>
            <a:r>
              <a:rPr sz="1275" b="0">
                <a:solidFill>
                  <a:srgbClr val="647C7E"/>
                </a:solidFill>
                <a:latin typeface="SimHei"/>
                <a:ea typeface="SimHei"/>
                <a:cs typeface="SimHei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856CDC-DC84-4FA2-8928-9A11F57D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76425"/>
            <a:ext cx="5191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defPPr>
            <a:lvl1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1pPr>
            <a:lvl2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2pPr>
            <a:lvl3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3pPr>
            <a:lvl4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4pPr>
            <a:lvl5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5pPr>
            <a:lvl6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6pPr>
            <a:lvl7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7pPr>
            <a:lvl8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8pPr>
            <a:lvl9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pPr>
            <a:r>
              <a:rPr sz="2325" b="1">
                <a:solidFill>
                  <a:srgbClr val="147B74"/>
                </a:solidFill>
                <a:latin typeface="SimHei"/>
                <a:ea typeface="SimHei"/>
                <a:cs typeface="SimHei"/>
              </a:rPr>
              <a:t>学生先判断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C7725C-E162-429D-872E-6086A49AE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43175"/>
            <a:ext cx="5191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1950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选择结构，写出定位和区分依据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A69EEF-E859-4C7D-8F2A-4E6411B1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76425"/>
            <a:ext cx="5191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defPPr>
            <a:lvl1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1pPr>
            <a:lvl2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2pPr>
            <a:lvl3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3pPr>
            <a:lvl4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4pPr>
            <a:lvl5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5pPr>
            <a:lvl6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6pPr>
            <a:lvl7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7pPr>
            <a:lvl8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8pPr>
            <a:lvl9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pPr>
            <a:r>
              <a:rPr sz="2325" b="1">
                <a:solidFill>
                  <a:srgbClr val="147B74"/>
                </a:solidFill>
                <a:latin typeface="SimHei"/>
                <a:ea typeface="SimHei"/>
                <a:cs typeface="SimHei"/>
              </a:rPr>
              <a:t>AI引用并追问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67897A-22A9-4F9B-B8AD-DA446C6C7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43175"/>
            <a:ext cx="5191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1950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根据学生原文，追问一条具体线索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D4A3D2-BD3E-402E-8936-58ABB64AE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5191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defPPr>
            <a:lvl1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1pPr>
            <a:lvl2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2pPr>
            <a:lvl3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3pPr>
            <a:lvl4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4pPr>
            <a:lvl5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5pPr>
            <a:lvl6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6pPr>
            <a:lvl7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7pPr>
            <a:lvl8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8pPr>
            <a:lvl9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pPr>
            <a:r>
              <a:rPr sz="2325" b="1">
                <a:solidFill>
                  <a:srgbClr val="147B74"/>
                </a:solidFill>
                <a:latin typeface="SimHei"/>
                <a:ea typeface="SimHei"/>
                <a:cs typeface="SimHei"/>
              </a:rPr>
              <a:t>学生回应并修正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CAAEEC-5914-43C5-84A4-706DA87B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05300"/>
            <a:ext cx="5191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1950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补充、修正或保留自己的解释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7DD6E2-6DB2-4EEB-B3F3-28B0559A8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38550"/>
            <a:ext cx="5191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defPPr>
            <a:lvl1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1pPr>
            <a:lvl2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2pPr>
            <a:lvl3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3pPr>
            <a:lvl4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4pPr>
            <a:lvl5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5pPr>
            <a:lvl6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6pPr>
            <a:lvl7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7pPr>
            <a:lvl8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8pPr>
            <a:lvl9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pPr>
            <a:r>
              <a:rPr sz="2325" b="1">
                <a:solidFill>
                  <a:srgbClr val="147B74"/>
                </a:solidFill>
                <a:latin typeface="SimHei"/>
                <a:ea typeface="SimHei"/>
                <a:cs typeface="SimHei"/>
              </a:rPr>
              <a:t>AI比较，教师复核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2B4F19-C3A1-4290-87ED-74562F2FF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05300"/>
            <a:ext cx="5191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1950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建议关注点，换题核对，回看过程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EE315A-73F3-4025-8346-09584F974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24550"/>
            <a:ext cx="1101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7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17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17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17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17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17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17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17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17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17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1725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AI建议不作为正式评分；教师最终核查依据与教学反馈。</a:t>
            </a:r>
          </a:p>
        </p:txBody>
      </p:sp>
    </p:spTree>
    <p:extLst>
      <p:ext uri="{BB962C8B-B14F-4D97-AF65-F5344CB8AC3E}">
        <p14:creationId xmlns:p14="http://schemas.microsoft.com/office/powerpoint/2010/main" val="16726335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7CBAF6-C662-4584-86F4-778528EDC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defPPr>
            <a:lvl1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1pPr>
            <a:lvl2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2pPr>
            <a:lvl3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3pPr>
            <a:lvl4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4pPr>
            <a:lvl5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5pPr>
            <a:lvl6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6pPr>
            <a:lvl7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7pPr>
            <a:lvl8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8pPr>
            <a:lvl9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pPr>
            <a:r>
              <a:rPr sz="1200" b="0">
                <a:solidFill>
                  <a:srgbClr val="647C7E"/>
                </a:solidFill>
                <a:latin typeface="SimHei"/>
                <a:ea typeface="SimHei"/>
                <a:cs typeface="SimHei"/>
              </a:rPr>
              <a:t>知骨 / AI+高等教育 · AI+教学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653830-C44B-44B9-B009-C758A9C91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42950"/>
            <a:ext cx="11010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925" b="1">
                <a:solidFill>
                  <a:srgbClr val="173436"/>
                </a:solidFill>
                <a:latin typeface="SimHei"/>
                <a:ea typeface="SimHei"/>
                <a:cs typeface="SimHei"/>
              </a:rPr>
              <a:t>第一轮：从学生原话出发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B7DE6E-70EB-4676-8976-41604C1DA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53175"/>
            <a:ext cx="66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defPPr>
            <a:lvl1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1pPr>
            <a:lvl2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2pPr>
            <a:lvl3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3pPr>
            <a:lvl4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4pPr>
            <a:lvl5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5pPr>
            <a:lvl6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6pPr>
            <a:lvl7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7pPr>
            <a:lvl8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8pPr>
            <a:lvl9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pPr>
            <a:r>
              <a:rPr sz="1275" b="0">
                <a:solidFill>
                  <a:srgbClr val="647C7E"/>
                </a:solidFill>
                <a:latin typeface="SimHei"/>
                <a:ea typeface="SimHei"/>
                <a:cs typeface="SimHei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0A534C-C284-4D75-8F0B-3C7EE6915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85950"/>
            <a:ext cx="4238625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10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210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210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210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210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210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210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210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210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210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100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学生可能只按屏幕左右判断</a:t>
            </a:r>
          </a:p>
          <a:p xmlns:a="http://schemas.openxmlformats.org/drawingml/2006/main">
            <a:pPr>
              <a:defRPr sz="210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100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模型必须引用一段学生原文</a:t>
            </a:r>
          </a:p>
          <a:p xmlns:a="http://schemas.openxmlformats.org/drawingml/2006/main">
            <a:pPr>
              <a:defRPr sz="210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100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围绕该依据提出具体追问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381F57-8A40-48C2-8E53-F3C9C3BD1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86325"/>
            <a:ext cx="4381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defPPr>
            <a:lvl1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1pPr>
            <a:lvl2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2pPr>
            <a:lvl3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3pPr>
            <a:lvl4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4pPr>
            <a:lvl5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5pPr>
            <a:lvl6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6pPr>
            <a:lvl7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7pPr>
            <a:lvl8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8pPr>
            <a:lvl9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pPr>
            <a:r>
              <a:rPr sz="2100" b="1">
                <a:solidFill>
                  <a:srgbClr val="147B74"/>
                </a:solidFill>
                <a:latin typeface="SimHei"/>
                <a:ea typeface="SimHei"/>
                <a:cs typeface="SimHei"/>
              </a:rPr>
              <a:t>不能只因为选对骨名</a:t>
            </a:r>
          </a:p>
          <a:p xmlns:a="http://schemas.openxmlformats.org/drawingml/2006/main">
            <a: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pPr>
            <a:r>
              <a:rPr sz="2100" b="1">
                <a:solidFill>
                  <a:srgbClr val="147B74"/>
                </a:solidFill>
                <a:latin typeface="SimHei"/>
                <a:ea typeface="SimHei"/>
                <a:cs typeface="SimHei"/>
              </a:rPr>
              <a:t>就推断学生的依据完整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E2272F-94F1-482A-B739-BC03B1D392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a80679a16a4d9b"/>
          <a:stretch xmlns:a="http://schemas.openxmlformats.org/drawingml/2006/main"/>
        </p:blipFill>
        <p:spPr>
          <a:xfrm xmlns:a="http://schemas.openxmlformats.org/drawingml/2006/main">
            <a:off x="5095875" y="1800225"/>
            <a:ext cx="6477000" cy="4048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91368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8EC777-B0AA-4085-90E6-92FA5C62A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defPPr>
            <a:lvl1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1pPr>
            <a:lvl2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2pPr>
            <a:lvl3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3pPr>
            <a:lvl4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4pPr>
            <a:lvl5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5pPr>
            <a:lvl6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6pPr>
            <a:lvl7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7pPr>
            <a:lvl8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8pPr>
            <a:lvl9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pPr>
            <a:r>
              <a:rPr sz="1200" b="0">
                <a:solidFill>
                  <a:srgbClr val="647C7E"/>
                </a:solidFill>
                <a:latin typeface="SimHei"/>
                <a:ea typeface="SimHei"/>
                <a:cs typeface="SimHei"/>
              </a:rPr>
              <a:t>知骨 / AI+高等教育 · AI+教学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473643-3A76-4293-B055-2FEDE6B18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42950"/>
            <a:ext cx="11010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925" b="1">
                <a:solidFill>
                  <a:srgbClr val="173436"/>
                </a:solidFill>
                <a:latin typeface="SimHei"/>
                <a:ea typeface="SimHei"/>
                <a:cs typeface="SimHei"/>
              </a:rPr>
              <a:t>第二轮：比较解释，安排下一题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00F3DA-2184-4DF2-8B91-F121456AF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53175"/>
            <a:ext cx="66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defPPr>
            <a:lvl1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1pPr>
            <a:lvl2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2pPr>
            <a:lvl3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3pPr>
            <a:lvl4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4pPr>
            <a:lvl5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5pPr>
            <a:lvl6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6pPr>
            <a:lvl7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7pPr>
            <a:lvl8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8pPr>
            <a:lvl9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pPr>
            <a:r>
              <a:rPr sz="1275" b="0">
                <a:solidFill>
                  <a:srgbClr val="647C7E"/>
                </a:solidFill>
                <a:latin typeface="SimHei"/>
                <a:ea typeface="SimHei"/>
                <a:cs typeface="SimHei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F9A6B5-F868-4CC6-B28A-49859C27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defPPr>
            <a:lvl1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1pPr>
            <a:lvl2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2pPr>
            <a:lvl3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3pPr>
            <a:lvl4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4pPr>
            <a:lvl5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5pPr>
            <a:lvl6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6pPr>
            <a:lvl7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7pPr>
            <a:lvl8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8pPr>
            <a:lvl9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pPr>
            <a:r>
              <a:rPr sz="2100" b="1">
                <a:solidFill>
                  <a:srgbClr val="147B74"/>
                </a:solidFill>
                <a:latin typeface="SimHei"/>
                <a:ea typeface="SimHei"/>
                <a:cs typeface="SimHei"/>
              </a:rPr>
              <a:t>01 初次解释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CFEC42-7552-4598-8443-836000FFE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66950"/>
            <a:ext cx="514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1875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学生写出自己的判断依据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22FC57-6B45-4471-8268-790C50FBD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43075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defPPr>
            <a:lvl1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1pPr>
            <a:lvl2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2pPr>
            <a:lvl3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3pPr>
            <a:lvl4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4pPr>
            <a:lvl5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5pPr>
            <a:lvl6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6pPr>
            <a:lvl7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7pPr>
            <a:lvl8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8pPr>
            <a:lvl9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pPr>
            <a:r>
              <a:rPr sz="2100" b="1">
                <a:solidFill>
                  <a:srgbClr val="147B74"/>
                </a:solidFill>
                <a:latin typeface="SimHei"/>
                <a:ea typeface="SimHei"/>
                <a:cs typeface="SimHei"/>
              </a:rPr>
              <a:t>02 AI引用追问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651418-C004-4643-8857-2FBB0FCEF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66950"/>
            <a:ext cx="514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1875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根据原文追问一条具体线索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70A55D-57D7-4195-BA24-8E7965876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8135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defPPr>
            <a:lvl1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1pPr>
            <a:lvl2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2pPr>
            <a:lvl3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3pPr>
            <a:lvl4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4pPr>
            <a:lvl5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5pPr>
            <a:lvl6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6pPr>
            <a:lvl7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7pPr>
            <a:lvl8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8pPr>
            <a:lvl9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pPr>
            <a:r>
              <a:rPr sz="2100" b="1">
                <a:solidFill>
                  <a:srgbClr val="147B74"/>
                </a:solidFill>
                <a:latin typeface="SimHei"/>
                <a:ea typeface="SimHei"/>
                <a:cs typeface="SimHei"/>
              </a:rPr>
              <a:t>03 回应并修正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3948D4-EEEA-4D4A-B99A-3C7E77FC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05225"/>
            <a:ext cx="514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1875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学生补充或保留原有解释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3CB04F-5D41-4929-BE17-B9C6A9698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18135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defPPr>
            <a:lvl1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1pPr>
            <a:lvl2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2pPr>
            <a:lvl3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3pPr>
            <a:lvl4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4pPr>
            <a:lvl5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5pPr>
            <a:lvl6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6pPr>
            <a:lvl7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7pPr>
            <a:lvl8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8pPr>
            <a:lvl9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pPr>
            <a:r>
              <a:rPr sz="2100" b="1">
                <a:solidFill>
                  <a:srgbClr val="147B74"/>
                </a:solidFill>
                <a:latin typeface="SimHei"/>
                <a:ea typeface="SimHei"/>
                <a:cs typeface="SimHei"/>
              </a:rPr>
              <a:t>04 AI比较解释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D49DDA-FCD3-4AAF-ADB6-562BA58D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05225"/>
            <a:ext cx="514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1875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指出变化与仍待核对之处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C7FD4E-D733-4811-8DD9-0E55A6D6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19625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defPPr>
            <a:lvl1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1pPr>
            <a:lvl2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2pPr>
            <a:lvl3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3pPr>
            <a:lvl4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4pPr>
            <a:lvl5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5pPr>
            <a:lvl6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6pPr>
            <a:lvl7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7pPr>
            <a:lvl8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8pPr>
            <a:lvl9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pPr>
            <a:r>
              <a:rPr sz="2100" b="1">
                <a:solidFill>
                  <a:srgbClr val="147B74"/>
                </a:solidFill>
                <a:latin typeface="SimHei"/>
                <a:ea typeface="SimHei"/>
                <a:cs typeface="SimHei"/>
              </a:rPr>
              <a:t>05 匹配迁移题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F4EF3B-D85D-401D-ABA2-3C7C29A1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43500"/>
            <a:ext cx="514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1875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按关注点选择预设日常题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8D400F-DA5D-483B-8349-02147E56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619625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defPPr>
            <a:lvl1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1pPr>
            <a:lvl2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2pPr>
            <a:lvl3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3pPr>
            <a:lvl4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4pPr>
            <a:lvl5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5pPr>
            <a:lvl6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6pPr>
            <a:lvl7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7pPr>
            <a:lvl8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8pPr>
            <a:lvl9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pPr>
            <a:r>
              <a:rPr sz="2100" b="1">
                <a:solidFill>
                  <a:srgbClr val="147B74"/>
                </a:solidFill>
                <a:latin typeface="SimHei"/>
                <a:ea typeface="SimHei"/>
                <a:cs typeface="SimHei"/>
              </a:rPr>
              <a:t>06 教师复核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DF4EB4-E912-4FFC-997C-252591C5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143500"/>
            <a:ext cx="514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1875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检查原文、建议及迁移结果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CFE64D-54F6-4FB9-849F-9A9344806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72200"/>
            <a:ext cx="981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350" b="0">
                <a:solidFill>
                  <a:srgbClr val="8B6429"/>
                </a:solidFill>
                <a:latin typeface="SimHei"/>
                <a:ea typeface="SimHei"/>
                <a:cs typeface="SimHei"/>
              </a:defRPr>
            </a:defPPr>
            <a:lvl1pPr>
              <a:defRPr sz="1350" b="0">
                <a:solidFill>
                  <a:srgbClr val="8B6429"/>
                </a:solidFill>
                <a:latin typeface="SimHei"/>
                <a:ea typeface="SimHei"/>
                <a:cs typeface="SimHei"/>
              </a:defRPr>
            </a:lvl1pPr>
            <a:lvl2pPr>
              <a:defRPr sz="1350" b="0">
                <a:solidFill>
                  <a:srgbClr val="8B6429"/>
                </a:solidFill>
                <a:latin typeface="SimHei"/>
                <a:ea typeface="SimHei"/>
                <a:cs typeface="SimHei"/>
              </a:defRPr>
            </a:lvl2pPr>
            <a:lvl3pPr>
              <a:defRPr sz="1350" b="0">
                <a:solidFill>
                  <a:srgbClr val="8B6429"/>
                </a:solidFill>
                <a:latin typeface="SimHei"/>
                <a:ea typeface="SimHei"/>
                <a:cs typeface="SimHei"/>
              </a:defRPr>
            </a:lvl3pPr>
            <a:lvl4pPr>
              <a:defRPr sz="1350" b="0">
                <a:solidFill>
                  <a:srgbClr val="8B6429"/>
                </a:solidFill>
                <a:latin typeface="SimHei"/>
                <a:ea typeface="SimHei"/>
                <a:cs typeface="SimHei"/>
              </a:defRPr>
            </a:lvl4pPr>
            <a:lvl5pPr>
              <a:defRPr sz="1350" b="0">
                <a:solidFill>
                  <a:srgbClr val="8B6429"/>
                </a:solidFill>
                <a:latin typeface="SimHei"/>
                <a:ea typeface="SimHei"/>
                <a:cs typeface="SimHei"/>
              </a:defRPr>
            </a:lvl5pPr>
            <a:lvl6pPr>
              <a:defRPr sz="1350" b="0">
                <a:solidFill>
                  <a:srgbClr val="8B6429"/>
                </a:solidFill>
                <a:latin typeface="SimHei"/>
                <a:ea typeface="SimHei"/>
                <a:cs typeface="SimHei"/>
              </a:defRPr>
            </a:lvl6pPr>
            <a:lvl7pPr>
              <a:defRPr sz="1350" b="0">
                <a:solidFill>
                  <a:srgbClr val="8B6429"/>
                </a:solidFill>
                <a:latin typeface="SimHei"/>
                <a:ea typeface="SimHei"/>
                <a:cs typeface="SimHei"/>
              </a:defRPr>
            </a:lvl7pPr>
            <a:lvl8pPr>
              <a:defRPr sz="1350" b="0">
                <a:solidFill>
                  <a:srgbClr val="8B6429"/>
                </a:solidFill>
                <a:latin typeface="SimHei"/>
                <a:ea typeface="SimHei"/>
                <a:cs typeface="SimHei"/>
              </a:defRPr>
            </a:lvl8pPr>
            <a:lvl9pPr>
              <a:defRPr sz="1350" b="0">
                <a:solidFill>
                  <a:srgbClr val="8B6429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8B6429"/>
                </a:solidFill>
                <a:latin typeface="SimHei"/>
                <a:ea typeface="SimHei"/>
                <a:cs typeface="SimHei"/>
              </a:defRPr>
            </a:pPr>
            <a:r>
              <a:rPr sz="1350" b="0">
                <a:solidFill>
                  <a:srgbClr val="8B6429"/>
                </a:solidFill>
                <a:latin typeface="SimHei"/>
                <a:ea typeface="SimHei"/>
                <a:cs typeface="SimHei"/>
              </a:rPr>
              <a:t>流程设计示意；不是模型实测输出。</a:t>
            </a:r>
          </a:p>
        </p:txBody>
      </p:sp>
    </p:spTree>
    <p:extLst>
      <p:ext uri="{BB962C8B-B14F-4D97-AF65-F5344CB8AC3E}">
        <p14:creationId xmlns:p14="http://schemas.microsoft.com/office/powerpoint/2010/main" val="9230298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1FD220-3D50-433B-84EA-D0D5D383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defPPr>
            <a:lvl1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1pPr>
            <a:lvl2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2pPr>
            <a:lvl3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3pPr>
            <a:lvl4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4pPr>
            <a:lvl5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5pPr>
            <a:lvl6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6pPr>
            <a:lvl7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7pPr>
            <a:lvl8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8pPr>
            <a:lvl9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pPr>
            <a:r>
              <a:rPr sz="1200" b="0">
                <a:solidFill>
                  <a:srgbClr val="647C7E"/>
                </a:solidFill>
                <a:latin typeface="SimHei"/>
                <a:ea typeface="SimHei"/>
                <a:cs typeface="SimHei"/>
              </a:rPr>
              <a:t>知骨 / AI+高等教育 · AI+教学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091A14-8A19-41C3-9DC0-14F70ED0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42950"/>
            <a:ext cx="11010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925" b="1">
                <a:solidFill>
                  <a:srgbClr val="173436"/>
                </a:solidFill>
                <a:latin typeface="SimHei"/>
                <a:ea typeface="SimHei"/>
                <a:cs typeface="SimHei"/>
              </a:rPr>
              <a:t>四个典型任务，使用现有课程支撑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1BCFCF-F1F0-413D-BAEB-AD53C09AC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53175"/>
            <a:ext cx="66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defPPr>
            <a:lvl1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1pPr>
            <a:lvl2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2pPr>
            <a:lvl3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3pPr>
            <a:lvl4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4pPr>
            <a:lvl5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5pPr>
            <a:lvl6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6pPr>
            <a:lvl7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7pPr>
            <a:lvl8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8pPr>
            <a:lvl9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pPr>
            <a:r>
              <a:rPr sz="1275" b="0">
                <a:solidFill>
                  <a:srgbClr val="647C7E"/>
                </a:solidFill>
                <a:latin typeface="SimHei"/>
                <a:ea typeface="SimHei"/>
                <a:cs typeface="SimHei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138FE8-A9D7-4304-B0D0-0BE17EA31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47850"/>
            <a:ext cx="1101090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3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23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23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23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23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23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23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23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23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23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325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桡尺骨：人体方位与屏幕方位</a:t>
            </a:r>
          </a:p>
          <a:p xmlns:a="http://schemas.openxmlformats.org/drawingml/2006/main">
            <a:pPr>
              <a:defRPr sz="23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325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胫腓骨：内外侧、粗细与踝部关系</a:t>
            </a:r>
          </a:p>
          <a:p xmlns:a="http://schemas.openxmlformats.org/drawingml/2006/main">
            <a:pPr>
              <a:defRPr sz="23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325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髋骨：整体、部分与相邻结构</a:t>
            </a:r>
          </a:p>
          <a:p xmlns:a="http://schemas.openxmlformats.org/drawingml/2006/main">
            <a:pPr>
              <a:defRPr sz="23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325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股骨标志：头、颈与外侧突起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DE4040-53B2-443A-88D6-D87D5A0E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76850"/>
            <a:ext cx="110109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025" b="0">
                <a:solidFill>
                  <a:srgbClr val="147B74"/>
                </a:solidFill>
                <a:latin typeface="SimHei"/>
                <a:ea typeface="SimHei"/>
                <a:cs typeface="SimHei"/>
              </a:defRPr>
            </a:defPPr>
            <a:lvl1pPr>
              <a:defRPr sz="2025" b="0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1pPr>
            <a:lvl2pPr>
              <a:defRPr sz="2025" b="0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2pPr>
            <a:lvl3pPr>
              <a:defRPr sz="2025" b="0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3pPr>
            <a:lvl4pPr>
              <a:defRPr sz="2025" b="0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4pPr>
            <a:lvl5pPr>
              <a:defRPr sz="2025" b="0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5pPr>
            <a:lvl6pPr>
              <a:defRPr sz="2025" b="0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6pPr>
            <a:lvl7pPr>
              <a:defRPr sz="2025" b="0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7pPr>
            <a:lvl8pPr>
              <a:defRPr sz="2025" b="0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8pPr>
            <a:lvl9pPr>
              <a:defRPr sz="2025" b="0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47B74"/>
                </a:solidFill>
                <a:latin typeface="SimHei"/>
                <a:ea typeface="SimHei"/>
                <a:cs typeface="SimHei"/>
              </a:defRPr>
            </a:pPr>
            <a:r>
              <a:rPr sz="2025" b="0">
                <a:solidFill>
                  <a:srgbClr val="147B74"/>
                </a:solidFill>
                <a:latin typeface="SimHei"/>
                <a:ea typeface="SimHei"/>
                <a:cs typeface="SimHei"/>
              </a:rPr>
              <a:t>课程支撑：36条目、13张教材图、96题</a:t>
            </a:r>
          </a:p>
          <a:p xmlns:a="http://schemas.openxmlformats.org/drawingml/2006/main">
            <a:pPr>
              <a:defRPr sz="2025" b="0">
                <a:solidFill>
                  <a:srgbClr val="147B74"/>
                </a:solidFill>
                <a:latin typeface="SimHei"/>
                <a:ea typeface="SimHei"/>
                <a:cs typeface="SimHei"/>
              </a:defRPr>
            </a:pPr>
            <a:r>
              <a:rPr sz="2025" b="0">
                <a:solidFill>
                  <a:srgbClr val="147B74"/>
                </a:solidFill>
                <a:latin typeface="SimHei"/>
                <a:ea typeface="SimHei"/>
                <a:cs typeface="SimHei"/>
              </a:rPr>
              <a:t>伴学引用日常题；独立测评36题不参与匹配</a:t>
            </a:r>
          </a:p>
        </p:txBody>
      </p:sp>
    </p:spTree>
    <p:extLst>
      <p:ext uri="{BB962C8B-B14F-4D97-AF65-F5344CB8AC3E}">
        <p14:creationId xmlns:p14="http://schemas.microsoft.com/office/powerpoint/2010/main" val="13339100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AA6E8-652B-490E-A096-6377873E0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defPPr>
            <a:lvl1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1pPr>
            <a:lvl2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2pPr>
            <a:lvl3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3pPr>
            <a:lvl4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4pPr>
            <a:lvl5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5pPr>
            <a:lvl6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6pPr>
            <a:lvl7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7pPr>
            <a:lvl8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8pPr>
            <a:lvl9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pPr>
            <a:r>
              <a:rPr sz="1200" b="0">
                <a:solidFill>
                  <a:srgbClr val="647C7E"/>
                </a:solidFill>
                <a:latin typeface="SimHei"/>
                <a:ea typeface="SimHei"/>
                <a:cs typeface="SimHei"/>
              </a:rPr>
              <a:t>知骨 / AI+高等教育 · AI+教学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635FEB-4255-477D-816D-5C7FD8A2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42950"/>
            <a:ext cx="11010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925" b="1">
                <a:solidFill>
                  <a:srgbClr val="173436"/>
                </a:solidFill>
                <a:latin typeface="SimHei"/>
                <a:ea typeface="SimHei"/>
                <a:cs typeface="SimHei"/>
              </a:rPr>
              <a:t>教师回看整条学习过程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655414-FB03-4A5D-A5C3-A8BF7F7DF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53175"/>
            <a:ext cx="66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defPPr>
            <a:lvl1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1pPr>
            <a:lvl2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2pPr>
            <a:lvl3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3pPr>
            <a:lvl4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4pPr>
            <a:lvl5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5pPr>
            <a:lvl6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6pPr>
            <a:lvl7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7pPr>
            <a:lvl8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8pPr>
            <a:lvl9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pPr>
            <a:r>
              <a:rPr sz="1275" b="0">
                <a:solidFill>
                  <a:srgbClr val="647C7E"/>
                </a:solidFill>
                <a:latin typeface="SimHei"/>
                <a:ea typeface="SimHei"/>
                <a:cs typeface="SimHei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C6CA8E-C411-409A-9743-5F5DE33C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19275"/>
            <a:ext cx="428625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10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210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210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210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210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210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210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210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210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210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100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保留初答与修正解释</a:t>
            </a:r>
          </a:p>
          <a:p xmlns:a="http://schemas.openxmlformats.org/drawingml/2006/main">
            <a:pPr>
              <a:defRPr sz="210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100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核对AI是否引用真实原文</a:t>
            </a:r>
          </a:p>
          <a:p xmlns:a="http://schemas.openxmlformats.org/drawingml/2006/main">
            <a:pPr>
              <a:defRPr sz="2100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100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查看迁移结果并人工复核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B3B091-1A93-47F6-BB63-11D2088B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9650"/>
            <a:ext cx="4286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17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defPPr>
            <a:lvl1pPr>
              <a:defRPr sz="217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1pPr>
            <a:lvl2pPr>
              <a:defRPr sz="217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2pPr>
            <a:lvl3pPr>
              <a:defRPr sz="217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3pPr>
            <a:lvl4pPr>
              <a:defRPr sz="217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4pPr>
            <a:lvl5pPr>
              <a:defRPr sz="217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5pPr>
            <a:lvl6pPr>
              <a:defRPr sz="217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6pPr>
            <a:lvl7pPr>
              <a:defRPr sz="217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7pPr>
            <a:lvl8pPr>
              <a:defRPr sz="217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8pPr>
            <a:lvl9pPr>
              <a:defRPr sz="217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pPr>
            <a:r>
              <a:rPr sz="2175" b="1">
                <a:solidFill>
                  <a:srgbClr val="147B74"/>
                </a:solidFill>
                <a:latin typeface="SimHei"/>
                <a:ea typeface="SimHei"/>
                <a:cs typeface="SimHei"/>
              </a:rPr>
              <a:t>过程档案单独保存</a:t>
            </a:r>
          </a:p>
          <a:p xmlns:a="http://schemas.openxmlformats.org/drawingml/2006/main">
            <a:pPr>
              <a:defRPr sz="217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pPr>
            <a:r>
              <a:rPr sz="2175" b="1">
                <a:solidFill>
                  <a:srgbClr val="147B74"/>
                </a:solidFill>
                <a:latin typeface="SimHei"/>
                <a:ea typeface="SimHei"/>
                <a:cs typeface="SimHei"/>
              </a:rPr>
              <a:t>不混入前后测成绩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C5C5A0-9FFC-4793-A31F-8E2EBD90A2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d3dde3f40e42ee"/>
          <a:stretch xmlns:a="http://schemas.openxmlformats.org/drawingml/2006/main"/>
        </p:blipFill>
        <p:spPr>
          <a:xfrm xmlns:a="http://schemas.openxmlformats.org/drawingml/2006/main">
            <a:off x="5114925" y="1801416"/>
            <a:ext cx="6457950" cy="403621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6501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129F43-B6A2-4802-864A-42840F440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defPPr>
            <a:lvl1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1pPr>
            <a:lvl2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2pPr>
            <a:lvl3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3pPr>
            <a:lvl4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4pPr>
            <a:lvl5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5pPr>
            <a:lvl6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6pPr>
            <a:lvl7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7pPr>
            <a:lvl8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8pPr>
            <a:lvl9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pPr>
            <a:r>
              <a:rPr sz="1200" b="0">
                <a:solidFill>
                  <a:srgbClr val="647C7E"/>
                </a:solidFill>
                <a:latin typeface="SimHei"/>
                <a:ea typeface="SimHei"/>
                <a:cs typeface="SimHei"/>
              </a:rPr>
              <a:t>知骨 / AI+高等教育 · AI+教学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4384C2-0E79-42A1-804F-852A46647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42950"/>
            <a:ext cx="11010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925" b="1">
                <a:solidFill>
                  <a:srgbClr val="173436"/>
                </a:solidFill>
                <a:latin typeface="SimHei"/>
                <a:ea typeface="SimHei"/>
                <a:cs typeface="SimHei"/>
              </a:rPr>
              <a:t>接入检测与验证边界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A43F92-3FFE-48D3-9D01-FD0A5813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53175"/>
            <a:ext cx="66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defPPr>
            <a:lvl1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1pPr>
            <a:lvl2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2pPr>
            <a:lvl3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3pPr>
            <a:lvl4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4pPr>
            <a:lvl5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5pPr>
            <a:lvl6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6pPr>
            <a:lvl7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7pPr>
            <a:lvl8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8pPr>
            <a:lvl9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pPr>
            <a:r>
              <a:rPr sz="1275" b="0">
                <a:solidFill>
                  <a:srgbClr val="647C7E"/>
                </a:solidFill>
                <a:latin typeface="SimHei"/>
                <a:ea typeface="SimHei"/>
                <a:cs typeface="SimHei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78DD1A-F11A-485B-8DFB-306B89AB3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76425"/>
            <a:ext cx="4333875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250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2250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2250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2250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2250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2250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2250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2250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2250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2250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250" b="1">
                <a:solidFill>
                  <a:srgbClr val="173436"/>
                </a:solidFill>
                <a:latin typeface="SimHei"/>
                <a:ea typeface="SimHei"/>
                <a:cs typeface="SimHei"/>
              </a:rPr>
              <a:t>网关正常 ≠ 密钥有效</a:t>
            </a:r>
          </a:p>
          <a:p xmlns:a="http://schemas.openxmlformats.org/drawingml/2006/main">
            <a:pPr>
              <a:defRPr sz="2250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250" b="1">
                <a:solidFill>
                  <a:srgbClr val="173436"/>
                </a:solidFill>
                <a:latin typeface="SimHei"/>
                <a:ea typeface="SimHei"/>
                <a:cs typeface="SimHei"/>
              </a:rPr>
              <a:t>密钥已配置 ≠ 真实调用成功</a:t>
            </a:r>
          </a:p>
          <a:p xmlns:a="http://schemas.openxmlformats.org/drawingml/2006/main">
            <a:pPr>
              <a:defRPr sz="2250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250" b="1">
                <a:solidFill>
                  <a:srgbClr val="173436"/>
                </a:solidFill>
                <a:latin typeface="SimHei"/>
                <a:ea typeface="SimHei"/>
                <a:cs typeface="SimHei"/>
              </a:rPr>
              <a:t>调用返回 ≠ 内容正确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89CB2A-3C5C-4F80-A7F7-261E24DB3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53000"/>
            <a:ext cx="4381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025" b="0">
                <a:solidFill>
                  <a:srgbClr val="8B6429"/>
                </a:solidFill>
                <a:latin typeface="SimHei"/>
                <a:ea typeface="SimHei"/>
                <a:cs typeface="SimHei"/>
              </a:defRPr>
            </a:defPPr>
            <a:lvl1pPr>
              <a:defRPr sz="2025" b="0">
                <a:solidFill>
                  <a:srgbClr val="8B6429"/>
                </a:solidFill>
                <a:latin typeface="SimHei"/>
                <a:ea typeface="SimHei"/>
                <a:cs typeface="SimHei"/>
              </a:defRPr>
            </a:lvl1pPr>
            <a:lvl2pPr>
              <a:defRPr sz="2025" b="0">
                <a:solidFill>
                  <a:srgbClr val="8B6429"/>
                </a:solidFill>
                <a:latin typeface="SimHei"/>
                <a:ea typeface="SimHei"/>
                <a:cs typeface="SimHei"/>
              </a:defRPr>
            </a:lvl2pPr>
            <a:lvl3pPr>
              <a:defRPr sz="2025" b="0">
                <a:solidFill>
                  <a:srgbClr val="8B6429"/>
                </a:solidFill>
                <a:latin typeface="SimHei"/>
                <a:ea typeface="SimHei"/>
                <a:cs typeface="SimHei"/>
              </a:defRPr>
            </a:lvl3pPr>
            <a:lvl4pPr>
              <a:defRPr sz="2025" b="0">
                <a:solidFill>
                  <a:srgbClr val="8B6429"/>
                </a:solidFill>
                <a:latin typeface="SimHei"/>
                <a:ea typeface="SimHei"/>
                <a:cs typeface="SimHei"/>
              </a:defRPr>
            </a:lvl4pPr>
            <a:lvl5pPr>
              <a:defRPr sz="2025" b="0">
                <a:solidFill>
                  <a:srgbClr val="8B6429"/>
                </a:solidFill>
                <a:latin typeface="SimHei"/>
                <a:ea typeface="SimHei"/>
                <a:cs typeface="SimHei"/>
              </a:defRPr>
            </a:lvl5pPr>
            <a:lvl6pPr>
              <a:defRPr sz="2025" b="0">
                <a:solidFill>
                  <a:srgbClr val="8B6429"/>
                </a:solidFill>
                <a:latin typeface="SimHei"/>
                <a:ea typeface="SimHei"/>
                <a:cs typeface="SimHei"/>
              </a:defRPr>
            </a:lvl6pPr>
            <a:lvl7pPr>
              <a:defRPr sz="2025" b="0">
                <a:solidFill>
                  <a:srgbClr val="8B6429"/>
                </a:solidFill>
                <a:latin typeface="SimHei"/>
                <a:ea typeface="SimHei"/>
                <a:cs typeface="SimHei"/>
              </a:defRPr>
            </a:lvl7pPr>
            <a:lvl8pPr>
              <a:defRPr sz="2025" b="0">
                <a:solidFill>
                  <a:srgbClr val="8B6429"/>
                </a:solidFill>
                <a:latin typeface="SimHei"/>
                <a:ea typeface="SimHei"/>
                <a:cs typeface="SimHei"/>
              </a:defRPr>
            </a:lvl8pPr>
            <a:lvl9pPr>
              <a:defRPr sz="2025" b="0">
                <a:solidFill>
                  <a:srgbClr val="8B6429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8B6429"/>
                </a:solidFill>
                <a:latin typeface="SimHei"/>
                <a:ea typeface="SimHei"/>
                <a:cs typeface="SimHei"/>
              </a:defRPr>
            </a:pPr>
            <a:r>
              <a:rPr sz="2025" b="0">
                <a:solidFill>
                  <a:srgbClr val="8B6429"/>
                </a:solidFill>
                <a:latin typeface="SimHei"/>
                <a:ea typeface="SimHei"/>
                <a:cs typeface="SimHei"/>
              </a:rPr>
              <a:t>默认DeepSeek，可选千问</a:t>
            </a:r>
          </a:p>
          <a:p xmlns:a="http://schemas.openxmlformats.org/drawingml/2006/main">
            <a:pPr>
              <a:defRPr sz="2025" b="0">
                <a:solidFill>
                  <a:srgbClr val="8B6429"/>
                </a:solidFill>
                <a:latin typeface="SimHei"/>
                <a:ea typeface="SimHei"/>
                <a:cs typeface="SimHei"/>
              </a:defRPr>
            </a:pPr>
            <a:r>
              <a:rPr sz="2025" b="0">
                <a:solidFill>
                  <a:srgbClr val="8B6429"/>
                </a:solidFill>
                <a:latin typeface="SimHei"/>
                <a:ea typeface="SimHei"/>
                <a:cs typeface="SimHei"/>
              </a:rPr>
              <a:t>当前真实模型仍待接通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26BC83-1C91-4D56-9FBB-B8D9ACCEA4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90b4f16f0b4d5e"/>
          <a:stretch xmlns:a="http://schemas.openxmlformats.org/drawingml/2006/main"/>
        </p:blipFill>
        <p:spPr>
          <a:xfrm xmlns:a="http://schemas.openxmlformats.org/drawingml/2006/main">
            <a:off x="5334000" y="2853043"/>
            <a:ext cx="6238875" cy="199963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0364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E6C261-AC44-4135-A232-1253322B8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defPPr>
            <a:lvl1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1pPr>
            <a:lvl2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2pPr>
            <a:lvl3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3pPr>
            <a:lvl4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4pPr>
            <a:lvl5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5pPr>
            <a:lvl6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6pPr>
            <a:lvl7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7pPr>
            <a:lvl8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8pPr>
            <a:lvl9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pPr>
            <a:r>
              <a:rPr sz="1200" b="0">
                <a:solidFill>
                  <a:srgbClr val="647C7E"/>
                </a:solidFill>
                <a:latin typeface="SimHei"/>
                <a:ea typeface="SimHei"/>
                <a:cs typeface="SimHei"/>
              </a:rPr>
              <a:t>知骨 / AI+高等教育 · AI+教学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F3C48A-153D-452F-8EB5-87310CA15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42950"/>
            <a:ext cx="11010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925" b="1">
                <a:solidFill>
                  <a:srgbClr val="173436"/>
                </a:solidFill>
                <a:latin typeface="SimHei"/>
                <a:ea typeface="SimHei"/>
                <a:cs typeface="SimHei"/>
              </a:rPr>
              <a:t>目前证据与下一步验证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B0D535-615E-4595-8AD1-59912BECB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53175"/>
            <a:ext cx="66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defPPr>
            <a:lvl1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1pPr>
            <a:lvl2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2pPr>
            <a:lvl3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3pPr>
            <a:lvl4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4pPr>
            <a:lvl5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5pPr>
            <a:lvl6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6pPr>
            <a:lvl7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7pPr>
            <a:lvl8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8pPr>
            <a:lvl9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pPr>
            <a:r>
              <a:rPr sz="1275" b="0">
                <a:solidFill>
                  <a:srgbClr val="647C7E"/>
                </a:solidFill>
                <a:latin typeface="SimHei"/>
                <a:ea typeface="SimHei"/>
                <a:cs typeface="SimHei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B411CD-AB4E-4D12-9283-1606C7914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66900"/>
            <a:ext cx="110109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77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defPPr>
            <a:lvl1pPr>
              <a:defRPr sz="277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1pPr>
            <a:lvl2pPr>
              <a:defRPr sz="277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2pPr>
            <a:lvl3pPr>
              <a:defRPr sz="277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3pPr>
            <a:lvl4pPr>
              <a:defRPr sz="277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4pPr>
            <a:lvl5pPr>
              <a:defRPr sz="277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5pPr>
            <a:lvl6pPr>
              <a:defRPr sz="277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6pPr>
            <a:lvl7pPr>
              <a:defRPr sz="277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7pPr>
            <a:lvl8pPr>
              <a:defRPr sz="277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8pPr>
            <a:lvl9pPr>
              <a:defRPr sz="277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77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pPr>
            <a:r>
              <a:rPr sz="2775" b="1">
                <a:solidFill>
                  <a:srgbClr val="147B74"/>
                </a:solidFill>
                <a:latin typeface="SimHei"/>
                <a:ea typeface="SimHei"/>
                <a:cs typeface="SimHei"/>
              </a:rPr>
              <a:t>18项课程回归 + 7项接入检测</a:t>
            </a:r>
          </a:p>
          <a:p xmlns:a="http://schemas.openxmlformats.org/drawingml/2006/main">
            <a:pPr>
              <a:defRPr sz="2775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pPr>
            <a:r>
              <a:rPr sz="2775" b="1">
                <a:solidFill>
                  <a:srgbClr val="147B74"/>
                </a:solidFill>
                <a:latin typeface="SimHei"/>
                <a:ea typeface="SimHei"/>
                <a:cs typeface="SimHei"/>
              </a:rPr>
              <a:t>10项伴学流程与协议检查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5CFF6C-441B-4AB0-932D-3E93C253A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48075"/>
            <a:ext cx="110109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1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21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21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21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21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21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21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21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21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21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175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离线、无密钥状态做实际本机测试</a:t>
            </a:r>
          </a:p>
          <a:p xmlns:a="http://schemas.openxmlformats.org/drawingml/2006/main">
            <a:pPr>
              <a:defRPr sz="21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175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成功教学反馈使用显式协议占位验证流程</a:t>
            </a:r>
          </a:p>
          <a:p xmlns:a="http://schemas.openxmlformats.org/drawingml/2006/main">
            <a:pPr>
              <a:defRPr sz="21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175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没有真实模型推理或课堂效果结论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710EA3-50B5-46D1-8A7A-27BC3F7A5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43575"/>
            <a:ext cx="11010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1875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下一步：真实两轮交互逐例核对 → 教师审核 → 课堂试用</a:t>
            </a:r>
          </a:p>
        </p:txBody>
      </p:sp>
    </p:spTree>
    <p:extLst>
      <p:ext uri="{BB962C8B-B14F-4D97-AF65-F5344CB8AC3E}">
        <p14:creationId xmlns:p14="http://schemas.microsoft.com/office/powerpoint/2010/main" val="134878047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A56C03-A551-45F6-9F7C-81560063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defPPr>
            <a:lvl1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1pPr>
            <a:lvl2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2pPr>
            <a:lvl3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3pPr>
            <a:lvl4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4pPr>
            <a:lvl5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5pPr>
            <a:lvl6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6pPr>
            <a:lvl7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7pPr>
            <a:lvl8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8pPr>
            <a:lvl9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pPr>
            <a:r>
              <a:rPr sz="1200" b="0">
                <a:solidFill>
                  <a:srgbClr val="647C7E"/>
                </a:solidFill>
                <a:latin typeface="SimHei"/>
                <a:ea typeface="SimHei"/>
                <a:cs typeface="SimHei"/>
              </a:rPr>
              <a:t>知骨 / AI+高等教育 · AI+教学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481534-84AD-4C5A-AB17-B644AEAA3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42950"/>
            <a:ext cx="11010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925" b="1">
                <a:solidFill>
                  <a:srgbClr val="173436"/>
                </a:solidFill>
                <a:latin typeface="SimHei"/>
                <a:ea typeface="SimHei"/>
                <a:cs typeface="SimHei"/>
              </a:rPr>
              <a:t>来源与交付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2AFC93-A4CF-4B32-89DD-D707558D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53175"/>
            <a:ext cx="66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defPPr>
            <a:lvl1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1pPr>
            <a:lvl2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2pPr>
            <a:lvl3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3pPr>
            <a:lvl4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4pPr>
            <a:lvl5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5pPr>
            <a:lvl6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6pPr>
            <a:lvl7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7pPr>
            <a:lvl8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8pPr>
            <a:lvl9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47C7E"/>
                </a:solidFill>
                <a:latin typeface="SimHei"/>
                <a:ea typeface="SimHei"/>
                <a:cs typeface="SimHei"/>
              </a:defRPr>
            </a:pPr>
            <a:r>
              <a:rPr sz="1275" b="0">
                <a:solidFill>
                  <a:srgbClr val="647C7E"/>
                </a:solidFill>
                <a:latin typeface="SimHei"/>
                <a:ea typeface="SimHei"/>
                <a:cs typeface="SimHei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91505D-4431-4877-8D17-E337DD74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1010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400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2400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2400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2400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2400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2400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2400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2400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2400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2400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400" b="1">
                <a:solidFill>
                  <a:srgbClr val="173436"/>
                </a:solidFill>
                <a:latin typeface="SimHei"/>
                <a:ea typeface="SimHei"/>
                <a:cs typeface="SimHei"/>
              </a:rPr>
              <a:t>OpenStax Anatomy and Physiology 2e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F56C70-228A-478E-B469-73CC17C67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24150"/>
            <a:ext cx="110109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0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20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20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20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20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20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20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20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20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20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025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13张教材图保留英文标签，CC BY-NC-SA 4.0</a:t>
            </a:r>
          </a:p>
          <a:p xmlns:a="http://schemas.openxmlformats.org/drawingml/2006/main">
            <a:pPr>
              <a:defRPr sz="202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2025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逐图来源、署名与哈希见 assets/来源与许可.json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DA0BFA-D8D2-4330-9519-176C5103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00550"/>
            <a:ext cx="110109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defPPr>
            <a:lvl1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1pPr>
            <a:lvl2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2pPr>
            <a:lvl3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3pPr>
            <a:lvl4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4pPr>
            <a:lvl5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5pPr>
            <a:lvl6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6pPr>
            <a:lvl7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7pPr>
            <a:lvl8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8pPr>
            <a:lvl9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pPr>
            <a:r>
              <a:rPr sz="2100" b="1">
                <a:solidFill>
                  <a:srgbClr val="147B74"/>
                </a:solidFill>
                <a:latin typeface="SimHei"/>
                <a:ea typeface="SimHei"/>
                <a:cs typeface="SimHei"/>
              </a:rPr>
              <a:t>本地作品、6份PDF、PPT、视频、源码与验证记录</a:t>
            </a:r>
          </a:p>
          <a:p xmlns:a="http://schemas.openxmlformats.org/drawingml/2006/main">
            <a:pPr>
              <a:defRPr sz="2100" b="1">
                <a:solidFill>
                  <a:srgbClr val="147B74"/>
                </a:solidFill>
                <a:latin typeface="SimHei"/>
                <a:ea typeface="SimHei"/>
                <a:cs typeface="SimHei"/>
              </a:defRPr>
            </a:pPr>
            <a:r>
              <a:rPr sz="2100" b="1">
                <a:solidFill>
                  <a:srgbClr val="147B74"/>
                </a:solidFill>
                <a:latin typeface="SimHei"/>
                <a:ea typeface="SimHei"/>
                <a:cs typeface="SimHei"/>
              </a:rPr>
              <a:t>本人真实信息及官方签字材料仍需补齐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B64CAD-6BFE-4F2C-AACA-F190A6F9F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11010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5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defPPr>
            <a:lvl1pPr>
              <a:defRPr sz="15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1pPr>
            <a:lvl2pPr>
              <a:defRPr sz="15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2pPr>
            <a:lvl3pPr>
              <a:defRPr sz="15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3pPr>
            <a:lvl4pPr>
              <a:defRPr sz="15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4pPr>
            <a:lvl5pPr>
              <a:defRPr sz="15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5pPr>
            <a:lvl6pPr>
              <a:defRPr sz="15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6pPr>
            <a:lvl7pPr>
              <a:defRPr sz="15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7pPr>
            <a:lvl8pPr>
              <a:defRPr sz="15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8pPr>
            <a:lvl9pPr>
              <a:defRPr sz="15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3436"/>
                </a:solidFill>
                <a:latin typeface="SimHei"/>
                <a:ea typeface="SimHei"/>
                <a:cs typeface="SimHei"/>
              </a:defRPr>
            </a:pPr>
            <a:r>
              <a:rPr sz="1575" b="0">
                <a:solidFill>
                  <a:srgbClr val="173436"/>
                </a:solidFill>
                <a:latin typeface="SimHei"/>
                <a:ea typeface="SimHei"/>
                <a:cs typeface="SimHei"/>
              </a:rPr>
              <a:t>免费教材：openstax.org/books/anatomy-and-physiology-2e</a:t>
            </a:r>
          </a:p>
        </p:txBody>
      </p:sp>
    </p:spTree>
    <p:extLst>
      <p:ext uri="{BB962C8B-B14F-4D97-AF65-F5344CB8AC3E}">
        <p14:creationId xmlns:p14="http://schemas.microsoft.com/office/powerpoint/2010/main" val="15508715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2026-10-18T09:42:05.7180000Z</dcterms:created>
  <dcterms:modified xsi:type="dcterms:W3CDTF">2026-10-18T09:42:05.7180000Z</dcterms:modified>
</coreProperties>
</file>